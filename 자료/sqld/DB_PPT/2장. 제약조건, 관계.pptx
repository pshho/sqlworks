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6" r:id="rId13"/>
    <p:sldId id="273" r:id="rId14"/>
    <p:sldId id="274" r:id="rId15"/>
    <p:sldId id="275" r:id="rId16"/>
    <p:sldId id="277" r:id="rId17"/>
    <p:sldId id="278" r:id="rId18"/>
    <p:sldId id="279" r:id="rId19"/>
    <p:sldId id="280" r:id="rId20"/>
    <p:sldId id="281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1721" y="1379514"/>
            <a:ext cx="6334472" cy="122656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79712" y="2667615"/>
            <a:ext cx="7164288" cy="455479"/>
          </a:xfrm>
          <a:solidFill>
            <a:srgbClr val="00B0F0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2000" i="1">
                <a:solidFill>
                  <a:srgbClr val="00206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1979712" cy="26910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67615"/>
            <a:ext cx="1979712" cy="478905"/>
          </a:xfrm>
          <a:prstGeom prst="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214689" y="2735987"/>
            <a:ext cx="432048" cy="342165"/>
          </a:xfrm>
          <a:prstGeom prst="triangl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556854" y="2735988"/>
            <a:ext cx="432048" cy="342165"/>
          </a:xfrm>
          <a:prstGeom prst="triangl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3130698"/>
            <a:ext cx="1979712" cy="372730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AutoShape 2" descr="https://blog.kakaocdn.net/dn/bGQaq7/btqOCcdqkEq/unWIYSuCoXe3waJ1pa1AD0/img.webp"/>
          <p:cNvSpPr>
            <a:spLocks noChangeAspect="1" noChangeArrowheads="1"/>
          </p:cNvSpPr>
          <p:nvPr userDrawn="1"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68810"/>
            <a:ext cx="2269834" cy="225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4779-FB94-4D0A-9770-16BB460ADD4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87F0D-089E-4098-8EE9-5721C76E52E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50FE-E6B2-4D57-AAF6-1B2A37421AAD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20C2-C949-4E4F-9580-FEE4F2DAC554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BFE0-70CA-4AA9-9C17-F02054822E7E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4A72-C6AC-45C3-AE5A-9CF6D245353A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9E8D-7616-4FA8-9B12-88059974D499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C3F6-B4DC-4E51-8609-BCC628ECDBF3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FE80-3752-4C44-80B8-E31C3450070D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88D13-428F-4553-BC93-2E91B1DA3F5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4C586-F21B-48DD-B591-4B12E73E0749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381328"/>
            <a:ext cx="9144000" cy="47667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다이아몬드 9"/>
          <p:cNvSpPr/>
          <p:nvPr userDrawn="1"/>
        </p:nvSpPr>
        <p:spPr>
          <a:xfrm>
            <a:off x="107505" y="6093296"/>
            <a:ext cx="465282" cy="590922"/>
          </a:xfrm>
          <a:prstGeom prst="diamond">
            <a:avLst/>
          </a:prstGeom>
          <a:solidFill>
            <a:srgbClr val="00206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다이아몬드 8"/>
          <p:cNvSpPr/>
          <p:nvPr userDrawn="1"/>
        </p:nvSpPr>
        <p:spPr>
          <a:xfrm>
            <a:off x="251521" y="6093296"/>
            <a:ext cx="465282" cy="590922"/>
          </a:xfrm>
          <a:prstGeom prst="diamond">
            <a:avLst/>
          </a:prstGeom>
          <a:solidFill>
            <a:srgbClr val="0070C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" y="-18256"/>
            <a:ext cx="5724128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172400" y="6453338"/>
            <a:ext cx="5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1720" y="1379514"/>
            <a:ext cx="6480720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2800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2</a:t>
            </a:r>
            <a:r>
              <a:rPr lang="ko-KR" altLang="en-US" sz="2800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제약조건</a:t>
            </a:r>
            <a:r>
              <a:rPr lang="en-US" altLang="ko-KR" sz="2800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, </a:t>
            </a:r>
            <a:r>
              <a:rPr lang="ko-KR" altLang="en-US" sz="2800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관계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79712" y="2674416"/>
            <a:ext cx="7164288" cy="456974"/>
          </a:xfrm>
          <a:solidFill>
            <a:srgbClr val="FFC000"/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Oracle – SQL </a:t>
            </a:r>
            <a:r>
              <a:rPr lang="ko-KR" altLang="en-US" sz="18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디벨로퍼</a:t>
            </a:r>
            <a:endParaRPr lang="ko-KR" alt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제약 조건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827584" y="1124744"/>
            <a:ext cx="1440160" cy="50405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/>
              <a:t>  </a:t>
            </a:r>
            <a:r>
              <a:rPr lang="ko-KR" altLang="en-US" sz="2000" b="1" dirty="0">
                <a:solidFill>
                  <a:srgbClr val="C00000"/>
                </a:solidFill>
              </a:rPr>
              <a:t>제약조건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590" y="2924944"/>
            <a:ext cx="735384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C00000"/>
                </a:solidFill>
              </a:rPr>
              <a:t>NOT NULL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ko-KR" altLang="en-US" sz="1600" dirty="0"/>
              <a:t>칼럼을 정의할 때 </a:t>
            </a:r>
            <a:r>
              <a:rPr lang="en-US" altLang="ko-KR" sz="1600" dirty="0"/>
              <a:t>NOT NULL </a:t>
            </a:r>
            <a:r>
              <a:rPr lang="ko-KR" altLang="en-US" sz="1600" dirty="0"/>
              <a:t>제약 조건을 명시하면 반드시 데이터를 입력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ko-KR" altLang="en-US" sz="1600" dirty="0" err="1"/>
              <a:t>해야한다</a:t>
            </a:r>
            <a:r>
              <a:rPr lang="en-US" altLang="ko-KR" sz="1600" dirty="0"/>
              <a:t>.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493809" y="4365104"/>
            <a:ext cx="5310439" cy="43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</a:t>
            </a:r>
            <a:r>
              <a:rPr lang="ko-KR" altLang="en-US" sz="1600" dirty="0" err="1"/>
              <a:t>칼럼명</a:t>
            </a:r>
            <a:r>
              <a:rPr lang="ko-KR" altLang="en-US" sz="1600" dirty="0"/>
              <a:t>  데이터 타입 </a:t>
            </a:r>
            <a:r>
              <a:rPr lang="en-US" altLang="ko-KR" sz="1600" b="1" dirty="0"/>
              <a:t>NOT NULL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43608" y="1628800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테이블들은 각 속성</a:t>
            </a:r>
            <a:r>
              <a:rPr lang="en-US" altLang="ko-KR" sz="1600" dirty="0"/>
              <a:t>(</a:t>
            </a:r>
            <a:r>
              <a:rPr lang="ko-KR" altLang="en-US" sz="1600" dirty="0"/>
              <a:t>칼럼</a:t>
            </a:r>
            <a:r>
              <a:rPr lang="en-US" altLang="ko-KR" sz="1600" dirty="0"/>
              <a:t>)</a:t>
            </a:r>
            <a:r>
              <a:rPr lang="ko-KR" altLang="en-US" sz="1600" dirty="0"/>
              <a:t>에 대한 </a:t>
            </a:r>
            <a:r>
              <a:rPr lang="ko-KR" altLang="en-US" sz="1600" dirty="0" err="1"/>
              <a:t>무결성을</a:t>
            </a:r>
            <a:r>
              <a:rPr lang="ko-KR" altLang="en-US" sz="1600" dirty="0"/>
              <a:t> 유지하기 위한 다양한 제약 조건</a:t>
            </a:r>
            <a:r>
              <a:rPr lang="en-US" altLang="ko-KR" sz="1600" dirty="0"/>
              <a:t>(Constraints)</a:t>
            </a:r>
            <a:r>
              <a:rPr lang="ko-KR" altLang="en-US" sz="1600" dirty="0"/>
              <a:t>이 적용되어 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제약 조건에는 </a:t>
            </a:r>
            <a:r>
              <a:rPr lang="en-US" altLang="ko-KR" sz="1600" dirty="0"/>
              <a:t>NOT NULL,  </a:t>
            </a:r>
            <a:r>
              <a:rPr lang="ko-KR" altLang="en-US" sz="1600" dirty="0" err="1"/>
              <a:t>기본키</a:t>
            </a:r>
            <a:r>
              <a:rPr lang="en-US" altLang="ko-KR" sz="1600" dirty="0"/>
              <a:t>,  </a:t>
            </a:r>
            <a:r>
              <a:rPr lang="ko-KR" altLang="en-US" sz="1600" dirty="0" err="1"/>
              <a:t>외래키</a:t>
            </a:r>
            <a:r>
              <a:rPr lang="en-US" altLang="ko-KR" sz="1600" dirty="0"/>
              <a:t>, CHECK </a:t>
            </a:r>
            <a:r>
              <a:rPr lang="ko-KR" altLang="en-US" sz="1600" dirty="0"/>
              <a:t>등이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534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제약 조건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512" y="4077072"/>
            <a:ext cx="6571389" cy="6423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287" y="1700808"/>
            <a:ext cx="4176122" cy="16689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6863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제약 조건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827584" y="1124744"/>
            <a:ext cx="1728192" cy="50405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r>
              <a:rPr lang="ko-KR" altLang="en-US" sz="2000" b="1" dirty="0" err="1">
                <a:solidFill>
                  <a:srgbClr val="C00000"/>
                </a:solidFill>
              </a:rPr>
              <a:t>기본키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3608" y="1805915"/>
            <a:ext cx="756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기본키는</a:t>
            </a:r>
            <a:r>
              <a:rPr lang="ko-KR" altLang="en-US" sz="1600" dirty="0"/>
              <a:t> </a:t>
            </a:r>
            <a:r>
              <a:rPr lang="en-US" altLang="ko-KR" sz="1600" dirty="0" err="1"/>
              <a:t>Primay</a:t>
            </a:r>
            <a:r>
              <a:rPr lang="en-US" altLang="ko-KR" sz="1600" dirty="0"/>
              <a:t> Key</a:t>
            </a:r>
            <a:r>
              <a:rPr lang="ko-KR" altLang="en-US" sz="1600" dirty="0"/>
              <a:t>라고도 하며</a:t>
            </a:r>
            <a:r>
              <a:rPr lang="en-US" altLang="ko-KR" sz="1600" dirty="0"/>
              <a:t>, UNIQUE</a:t>
            </a:r>
            <a:r>
              <a:rPr lang="ko-KR" altLang="en-US" sz="1600" dirty="0"/>
              <a:t>와 </a:t>
            </a:r>
            <a:r>
              <a:rPr lang="en-US" altLang="ko-KR" sz="1600" dirty="0"/>
              <a:t>NOT NULL </a:t>
            </a:r>
            <a:r>
              <a:rPr lang="ko-KR" altLang="en-US" sz="1600" dirty="0"/>
              <a:t>속성을 동시에 가진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제약 조건으로 테이블 당 </a:t>
            </a:r>
            <a:r>
              <a:rPr lang="en-US" altLang="ko-KR" sz="1600" dirty="0"/>
              <a:t>1</a:t>
            </a:r>
            <a:r>
              <a:rPr lang="ko-KR" altLang="en-US" sz="1600" dirty="0"/>
              <a:t>개의 </a:t>
            </a:r>
            <a:r>
              <a:rPr lang="ko-KR" altLang="en-US" sz="1600" dirty="0" err="1"/>
              <a:t>기본키만</a:t>
            </a:r>
            <a:r>
              <a:rPr lang="ko-KR" altLang="en-US" sz="1600" dirty="0"/>
              <a:t> 생성할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547663" y="2984178"/>
            <a:ext cx="5377790" cy="1380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 </a:t>
            </a:r>
            <a:r>
              <a:rPr lang="ko-KR" altLang="en-US" sz="1600" dirty="0" err="1"/>
              <a:t>칼럼명</a:t>
            </a:r>
            <a:r>
              <a:rPr lang="ko-KR" altLang="en-US" sz="1600" dirty="0"/>
              <a:t>  데이터 타입 </a:t>
            </a:r>
            <a:r>
              <a:rPr lang="en-US" altLang="ko-KR" sz="1600" b="1" dirty="0"/>
              <a:t>PRIMARY KEY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b="1" dirty="0"/>
              <a:t>   </a:t>
            </a:r>
            <a:r>
              <a:rPr lang="en-US" altLang="ko-KR" sz="1600" dirty="0"/>
              <a:t> </a:t>
            </a:r>
            <a:r>
              <a:rPr lang="ko-KR" altLang="en-US" sz="1600" dirty="0"/>
              <a:t>또는 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600" dirty="0"/>
              <a:t>    </a:t>
            </a:r>
            <a:r>
              <a:rPr lang="en-US" altLang="ko-KR" sz="1600" b="1" dirty="0"/>
              <a:t>CONSTRAINTS</a:t>
            </a:r>
            <a:r>
              <a:rPr lang="en-US" altLang="ko-KR" sz="1600" dirty="0"/>
              <a:t> </a:t>
            </a:r>
            <a:r>
              <a:rPr lang="ko-KR" altLang="en-US" sz="1600" dirty="0" err="1"/>
              <a:t>제약조건명</a:t>
            </a:r>
            <a:r>
              <a:rPr lang="ko-KR" altLang="en-US" sz="1600" dirty="0"/>
              <a:t> </a:t>
            </a:r>
            <a:r>
              <a:rPr lang="en-US" altLang="ko-KR" sz="1600" b="1" dirty="0"/>
              <a:t>PRIMARY KEY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칼럼명</a:t>
            </a:r>
            <a:r>
              <a:rPr lang="en-US" altLang="ko-KR" sz="1600" dirty="0"/>
              <a:t>, …)</a:t>
            </a:r>
          </a:p>
        </p:txBody>
      </p:sp>
    </p:spTree>
    <p:extLst>
      <p:ext uri="{BB962C8B-B14F-4D97-AF65-F5344CB8AC3E}">
        <p14:creationId xmlns:p14="http://schemas.microsoft.com/office/powerpoint/2010/main" val="1253031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제약 조건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664636"/>
            <a:ext cx="5607102" cy="20162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084" y="4040900"/>
            <a:ext cx="5456393" cy="52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0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DDL - ALTER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827584" y="1120484"/>
            <a:ext cx="3384376" cy="5760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/>
              <a:t>  </a:t>
            </a:r>
            <a:r>
              <a:rPr lang="ko-KR" altLang="en-US" sz="1800" b="1" dirty="0"/>
              <a:t>테이블 이름 변경</a:t>
            </a:r>
            <a:endParaRPr lang="en-US" altLang="ko-KR" sz="18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800" b="1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971600" y="3356992"/>
            <a:ext cx="4824536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b="1" dirty="0"/>
              <a:t>  칼럼 이름 변경</a:t>
            </a:r>
            <a:endParaRPr lang="en-US" altLang="ko-KR" sz="1800" b="1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 b="1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1043608" y="1772816"/>
            <a:ext cx="6696744" cy="558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ALTER TABLE </a:t>
            </a:r>
            <a:r>
              <a:rPr lang="ko-KR" altLang="en-US" sz="1800" dirty="0"/>
              <a:t>테이블 이름</a:t>
            </a:r>
            <a:r>
              <a:rPr lang="en-US" altLang="ko-KR" sz="1800" dirty="0"/>
              <a:t> </a:t>
            </a:r>
            <a:r>
              <a:rPr lang="en-US" altLang="ko-KR" sz="1800" b="1" dirty="0"/>
              <a:t>RENAME T</a:t>
            </a:r>
            <a:r>
              <a:rPr lang="en-US" altLang="ko-KR" sz="1800" dirty="0"/>
              <a:t>O </a:t>
            </a:r>
            <a:r>
              <a:rPr lang="ko-KR" altLang="en-US" sz="1800" dirty="0"/>
              <a:t>새로운 테이블 이름</a:t>
            </a:r>
            <a:endParaRPr lang="en-US" altLang="ko-KR" sz="18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971600" y="3933056"/>
            <a:ext cx="7776864" cy="558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ALTER TABLE </a:t>
            </a:r>
            <a:r>
              <a:rPr lang="ko-KR" altLang="en-US" sz="1800" dirty="0" err="1"/>
              <a:t>테이블명</a:t>
            </a:r>
            <a:r>
              <a:rPr lang="en-US" altLang="ko-KR" sz="1800" dirty="0"/>
              <a:t> </a:t>
            </a:r>
            <a:r>
              <a:rPr lang="en-US" altLang="ko-KR" sz="1800" b="1" dirty="0"/>
              <a:t>RENAME COLUMN</a:t>
            </a:r>
            <a:r>
              <a:rPr lang="en-US" altLang="ko-KR" sz="1800" dirty="0"/>
              <a:t> </a:t>
            </a:r>
            <a:r>
              <a:rPr lang="ko-KR" altLang="en-US" sz="1800" dirty="0" err="1"/>
              <a:t>변경전칼럼명</a:t>
            </a:r>
            <a:r>
              <a:rPr lang="ko-KR" altLang="en-US" sz="1800" dirty="0"/>
              <a:t> </a:t>
            </a:r>
            <a:r>
              <a:rPr lang="en-US" altLang="ko-KR" sz="1800" b="1" dirty="0"/>
              <a:t>TO</a:t>
            </a:r>
            <a:r>
              <a:rPr lang="en-US" altLang="ko-KR" sz="1800" dirty="0"/>
              <a:t> </a:t>
            </a:r>
            <a:r>
              <a:rPr lang="ko-KR" altLang="en-US" sz="1800" dirty="0" err="1"/>
              <a:t>변경후칼럼명</a:t>
            </a:r>
            <a:endParaRPr lang="en-US" altLang="ko-KR" sz="1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61" y="2507906"/>
            <a:ext cx="3625755" cy="5133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60" y="4725144"/>
            <a:ext cx="5396005" cy="4320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33766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DDL - ALTER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827584" y="1120484"/>
            <a:ext cx="3384376" cy="5760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/>
              <a:t>  </a:t>
            </a:r>
            <a:r>
              <a:rPr lang="ko-KR" altLang="en-US" sz="1800" b="1" dirty="0"/>
              <a:t>칼럼 추가</a:t>
            </a:r>
            <a:endParaRPr lang="en-US" altLang="ko-KR" sz="18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800" b="1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971600" y="3356992"/>
            <a:ext cx="4824536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b="1" dirty="0"/>
              <a:t>  칼럼 타입 변경</a:t>
            </a:r>
            <a:endParaRPr lang="en-US" altLang="ko-KR" sz="1800" b="1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 b="1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1043608" y="1772816"/>
            <a:ext cx="5976664" cy="558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ALTER TABLE </a:t>
            </a:r>
            <a:r>
              <a:rPr lang="ko-KR" altLang="en-US" sz="1800" dirty="0"/>
              <a:t>테이블 이름</a:t>
            </a:r>
            <a:r>
              <a:rPr lang="en-US" altLang="ko-KR" sz="1800" dirty="0"/>
              <a:t> </a:t>
            </a:r>
            <a:r>
              <a:rPr lang="en-US" altLang="ko-KR" sz="1800" b="1" dirty="0"/>
              <a:t>ADD </a:t>
            </a:r>
            <a:r>
              <a:rPr lang="ko-KR" altLang="en-US" sz="1800" dirty="0" err="1"/>
              <a:t>칼럼명</a:t>
            </a:r>
            <a:r>
              <a:rPr lang="ko-KR" altLang="en-US" sz="1800" dirty="0"/>
              <a:t> 데이터 타입</a:t>
            </a:r>
            <a:endParaRPr lang="en-US" altLang="ko-KR" sz="18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090260" y="3933056"/>
            <a:ext cx="6120680" cy="558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ALTER TABLE </a:t>
            </a:r>
            <a:r>
              <a:rPr lang="ko-KR" altLang="en-US" sz="1800" dirty="0" err="1"/>
              <a:t>테이블명</a:t>
            </a:r>
            <a:r>
              <a:rPr lang="en-US" altLang="ko-KR" sz="1800" dirty="0"/>
              <a:t> </a:t>
            </a:r>
            <a:r>
              <a:rPr lang="en-US" altLang="ko-KR" sz="1800" b="1" dirty="0"/>
              <a:t>MODIFY </a:t>
            </a:r>
            <a:r>
              <a:rPr lang="ko-KR" altLang="en-US" sz="1800" dirty="0" err="1"/>
              <a:t>칼럼명</a:t>
            </a:r>
            <a:r>
              <a:rPr lang="ko-KR" altLang="en-US" sz="1800" dirty="0"/>
              <a:t> 데이터타입</a:t>
            </a:r>
            <a:endParaRPr lang="en-US" altLang="ko-KR" sz="18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98" y="2564902"/>
            <a:ext cx="4554962" cy="3795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32" y="4725144"/>
            <a:ext cx="4453180" cy="382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5981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DDL - ALTER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36" y="1902936"/>
            <a:ext cx="3110520" cy="15121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36" y="4610540"/>
            <a:ext cx="3159837" cy="7920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429" y="3933056"/>
            <a:ext cx="5837426" cy="4801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429" y="1325960"/>
            <a:ext cx="2507197" cy="3886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219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DDL - ALTER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827584" y="1120484"/>
            <a:ext cx="3384376" cy="5760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/>
              <a:t>  </a:t>
            </a:r>
            <a:r>
              <a:rPr lang="ko-KR" altLang="en-US" sz="1800" b="1" dirty="0"/>
              <a:t>테이블 복사</a:t>
            </a:r>
            <a:endParaRPr lang="en-US" altLang="ko-KR" sz="18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800" b="1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1043608" y="1772816"/>
            <a:ext cx="5976664" cy="1080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CREATE TABLE </a:t>
            </a:r>
            <a:r>
              <a:rPr lang="ko-KR" altLang="en-US" sz="1800" dirty="0"/>
              <a:t>테이블 이름</a:t>
            </a:r>
            <a:r>
              <a:rPr lang="en-US" altLang="ko-KR" sz="1800" dirty="0"/>
              <a:t> </a:t>
            </a:r>
            <a:r>
              <a:rPr lang="en-US" altLang="ko-KR" sz="1800" b="1" dirty="0"/>
              <a:t>AS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/>
              <a:t>  </a:t>
            </a:r>
            <a:r>
              <a:rPr lang="en-US" altLang="ko-KR" sz="1800" b="1" dirty="0"/>
              <a:t>SELECT</a:t>
            </a:r>
            <a:r>
              <a:rPr lang="en-US" altLang="ko-KR" sz="1800" dirty="0"/>
              <a:t> </a:t>
            </a:r>
            <a:r>
              <a:rPr lang="ko-KR" altLang="en-US" sz="1800" dirty="0"/>
              <a:t>칼럼</a:t>
            </a:r>
            <a:r>
              <a:rPr lang="en-US" altLang="ko-KR" sz="1800" dirty="0"/>
              <a:t>1. </a:t>
            </a:r>
            <a:r>
              <a:rPr lang="ko-KR" altLang="en-US" sz="1800" dirty="0"/>
              <a:t>칼럼</a:t>
            </a:r>
            <a:r>
              <a:rPr lang="en-US" altLang="ko-KR" sz="1800" dirty="0"/>
              <a:t>2.. </a:t>
            </a:r>
            <a:r>
              <a:rPr lang="en-US" altLang="ko-KR" sz="1800" b="1" dirty="0"/>
              <a:t>FROM</a:t>
            </a:r>
            <a:r>
              <a:rPr lang="en-US" altLang="ko-KR" sz="1800" dirty="0"/>
              <a:t> </a:t>
            </a:r>
            <a:r>
              <a:rPr lang="ko-KR" altLang="en-US" sz="1800" dirty="0"/>
              <a:t>복사할 </a:t>
            </a:r>
            <a:r>
              <a:rPr lang="ko-KR" altLang="en-US" sz="1800" dirty="0" err="1"/>
              <a:t>테이블명</a:t>
            </a:r>
            <a:endParaRPr lang="en-US" altLang="ko-KR" sz="1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40" y="3212976"/>
            <a:ext cx="3032880" cy="10081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99802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DDL - DROP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899592" y="1196752"/>
            <a:ext cx="4824536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b="1" dirty="0"/>
              <a:t>  테이블 삭제</a:t>
            </a:r>
            <a:endParaRPr lang="en-US" altLang="ko-KR" sz="1800" b="1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 b="1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211526" y="3140968"/>
            <a:ext cx="6120680" cy="558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  DROP TABLE </a:t>
            </a:r>
            <a:r>
              <a:rPr lang="ko-KR" altLang="en-US" sz="1800" dirty="0" err="1"/>
              <a:t>테이블명</a:t>
            </a:r>
            <a:r>
              <a:rPr lang="en-US" altLang="ko-KR" sz="1800" dirty="0"/>
              <a:t> </a:t>
            </a:r>
            <a:r>
              <a:rPr lang="en-US" altLang="ko-KR" sz="1800" b="1" dirty="0"/>
              <a:t>[CASCADE CONSTRAINTS]</a:t>
            </a:r>
            <a:endParaRPr lang="en-US" altLang="ko-KR" sz="18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26" y="3978087"/>
            <a:ext cx="3546817" cy="4320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15616" y="1772816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테이블 및 모든 데이터를 삭제함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CASCADE CONSTRAINTS </a:t>
            </a:r>
            <a:r>
              <a:rPr lang="ko-KR" altLang="en-US" sz="1600" dirty="0"/>
              <a:t>를 붙이면 삭제할 테이블의 </a:t>
            </a:r>
            <a:r>
              <a:rPr lang="ko-KR" altLang="en-US" sz="1600" dirty="0" err="1"/>
              <a:t>기본키와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참조무결성</a:t>
            </a:r>
            <a:r>
              <a:rPr lang="ko-KR" altLang="en-US" sz="1600" dirty="0"/>
              <a:t> 제약조건도 자동으로 삭제된다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34549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912" y="-9940"/>
            <a:ext cx="3993307" cy="85496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관계</a:t>
            </a:r>
            <a:r>
              <a:rPr lang="en-US" altLang="ko-KR" dirty="0"/>
              <a:t>(</a:t>
            </a:r>
            <a:r>
              <a:rPr lang="en-US" altLang="ko-KR" dirty="0" err="1"/>
              <a:t>Releation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11560" y="1124744"/>
            <a:ext cx="806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C00000"/>
                </a:solidFill>
              </a:rPr>
              <a:t>   </a:t>
            </a:r>
            <a:r>
              <a:rPr lang="ko-KR" altLang="en-US" b="1" dirty="0" err="1">
                <a:solidFill>
                  <a:srgbClr val="C00000"/>
                </a:solidFill>
              </a:rPr>
              <a:t>외래키</a:t>
            </a:r>
            <a:r>
              <a:rPr lang="en-US" altLang="ko-KR" b="1" dirty="0">
                <a:solidFill>
                  <a:srgbClr val="C00000"/>
                </a:solidFill>
              </a:rPr>
              <a:t>(FK : Foreign Key)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C00000"/>
                </a:solidFill>
              </a:rPr>
              <a:t>    </a:t>
            </a:r>
            <a:r>
              <a:rPr lang="en-US" altLang="ko-KR" dirty="0"/>
              <a:t>- </a:t>
            </a:r>
            <a:r>
              <a:rPr lang="ko-KR" altLang="en-US" dirty="0"/>
              <a:t>특정 테이블에 포함되어 있으면서 다른 테이블의 </a:t>
            </a:r>
            <a:r>
              <a:rPr lang="ko-KR" altLang="en-US" dirty="0" err="1"/>
              <a:t>기본키로</a:t>
            </a:r>
            <a:r>
              <a:rPr lang="ko-KR" altLang="en-US" dirty="0"/>
              <a:t> 지정된 키</a:t>
            </a:r>
            <a:endParaRPr lang="en-US" altLang="ko-KR" dirty="0"/>
          </a:p>
        </p:txBody>
      </p:sp>
      <p:graphicFrame>
        <p:nvGraphicFramePr>
          <p:cNvPr id="5" name="내용 개체 틀 4"/>
          <p:cNvGraphicFramePr>
            <a:graphicFrameLocks/>
          </p:cNvGraphicFramePr>
          <p:nvPr>
            <p:extLst/>
          </p:nvPr>
        </p:nvGraphicFramePr>
        <p:xfrm>
          <a:off x="2062798" y="4192488"/>
          <a:ext cx="4640520" cy="1818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80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4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사원 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501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이강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김산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남한강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31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북한강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5535802" y="4077072"/>
            <a:ext cx="1080120" cy="208823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2062797" y="4150464"/>
            <a:ext cx="1080120" cy="187220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내용 개체 틀 4"/>
          <p:cNvGraphicFramePr>
            <a:graphicFrameLocks/>
          </p:cNvGraphicFramePr>
          <p:nvPr>
            <p:extLst/>
          </p:nvPr>
        </p:nvGraphicFramePr>
        <p:xfrm>
          <a:off x="2234507" y="2276873"/>
          <a:ext cx="3511776" cy="12241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2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 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위치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전산팀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서울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총무팀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인천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모서리가 둥근 직사각형 16"/>
          <p:cNvSpPr/>
          <p:nvPr/>
        </p:nvSpPr>
        <p:spPr>
          <a:xfrm>
            <a:off x="2198636" y="2204864"/>
            <a:ext cx="1152128" cy="151216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6466367" y="4689140"/>
            <a:ext cx="1008109" cy="43204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외래키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406417" y="2758616"/>
            <a:ext cx="1008109" cy="43204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기본키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281791" y="4857120"/>
            <a:ext cx="1008109" cy="43204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기본키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0" name="꺾인 연결선 19"/>
          <p:cNvCxnSpPr>
            <a:stCxn id="17" idx="2"/>
            <a:endCxn id="7" idx="0"/>
          </p:cNvCxnSpPr>
          <p:nvPr/>
        </p:nvCxnSpPr>
        <p:spPr>
          <a:xfrm rot="16200000" flipH="1">
            <a:off x="4245261" y="2246472"/>
            <a:ext cx="360040" cy="3301161"/>
          </a:xfrm>
          <a:prstGeom prst="bentConnector3">
            <a:avLst/>
          </a:prstGeom>
          <a:ln w="19050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365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912" y="-9940"/>
            <a:ext cx="3993307" cy="85496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관계</a:t>
            </a:r>
            <a:r>
              <a:rPr lang="en-US" altLang="ko-KR" dirty="0"/>
              <a:t>(</a:t>
            </a:r>
            <a:r>
              <a:rPr lang="en-US" altLang="ko-KR" dirty="0" err="1"/>
              <a:t>Releation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11560" y="1124744"/>
            <a:ext cx="806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C00000"/>
                </a:solidFill>
              </a:rPr>
              <a:t>   </a:t>
            </a:r>
            <a:r>
              <a:rPr lang="ko-KR" altLang="en-US" b="1" dirty="0" err="1">
                <a:solidFill>
                  <a:srgbClr val="C00000"/>
                </a:solidFill>
              </a:rPr>
              <a:t>외래키</a:t>
            </a:r>
            <a:r>
              <a:rPr lang="en-US" altLang="ko-KR" b="1" dirty="0">
                <a:solidFill>
                  <a:srgbClr val="C00000"/>
                </a:solidFill>
              </a:rPr>
              <a:t>(FK : Foreign Key)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C00000"/>
                </a:solidFill>
              </a:rPr>
              <a:t>    </a:t>
            </a:r>
            <a:r>
              <a:rPr lang="en-US" altLang="ko-KR" dirty="0"/>
              <a:t>- </a:t>
            </a:r>
            <a:r>
              <a:rPr lang="ko-KR" altLang="en-US" dirty="0"/>
              <a:t>특정 테이블에 포함되어 있으면서 다른 테이블의 </a:t>
            </a:r>
            <a:r>
              <a:rPr lang="ko-KR" altLang="en-US" dirty="0" err="1"/>
              <a:t>기본키로</a:t>
            </a:r>
            <a:r>
              <a:rPr lang="ko-KR" altLang="en-US" dirty="0"/>
              <a:t> 지정된 키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601A0-E676-4B23-97A2-6A5372043EC9}"/>
              </a:ext>
            </a:extLst>
          </p:cNvPr>
          <p:cNvSpPr txBox="1"/>
          <p:nvPr/>
        </p:nvSpPr>
        <p:spPr>
          <a:xfrm>
            <a:off x="1258406" y="4149080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이상현상</a:t>
            </a:r>
            <a:r>
              <a:rPr lang="en-US" altLang="ko-KR" dirty="0"/>
              <a:t>(</a:t>
            </a:r>
            <a:r>
              <a:rPr lang="en-US" altLang="ko-KR" dirty="0" err="1"/>
              <a:t>Anomoly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삽입이상 </a:t>
            </a:r>
            <a:r>
              <a:rPr lang="en-US" altLang="ko-KR" dirty="0"/>
              <a:t>:  505</a:t>
            </a:r>
            <a:r>
              <a:rPr lang="ko-KR" altLang="en-US" dirty="0"/>
              <a:t>번 사원 입사 </a:t>
            </a:r>
            <a:r>
              <a:rPr lang="en-US" altLang="ko-KR" dirty="0"/>
              <a:t>– </a:t>
            </a:r>
            <a:r>
              <a:rPr lang="ko-KR" altLang="en-US" dirty="0"/>
              <a:t>부서 배정이 안되면 </a:t>
            </a:r>
            <a:r>
              <a:rPr lang="en-US" altLang="ko-KR" dirty="0"/>
              <a:t>null</a:t>
            </a:r>
            <a:r>
              <a:rPr lang="ko-KR" altLang="en-US" dirty="0"/>
              <a:t>이 입력됨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삭제이상 </a:t>
            </a:r>
            <a:r>
              <a:rPr lang="en-US" altLang="ko-KR" dirty="0"/>
              <a:t>: 501</a:t>
            </a:r>
            <a:r>
              <a:rPr lang="ko-KR" altLang="en-US" dirty="0"/>
              <a:t>번 퇴사해서 </a:t>
            </a:r>
            <a:r>
              <a:rPr lang="ko-KR" altLang="en-US" dirty="0" err="1"/>
              <a:t>삭제시</a:t>
            </a:r>
            <a:r>
              <a:rPr lang="ko-KR" altLang="en-US" dirty="0"/>
              <a:t> 부서코드 </a:t>
            </a:r>
            <a:r>
              <a:rPr lang="en-US" altLang="ko-KR" dirty="0"/>
              <a:t>10</a:t>
            </a:r>
            <a:r>
              <a:rPr lang="ko-KR" altLang="en-US" dirty="0"/>
              <a:t>번 삭제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수정이상 </a:t>
            </a:r>
            <a:r>
              <a:rPr lang="en-US" altLang="ko-KR" dirty="0"/>
              <a:t>: </a:t>
            </a:r>
            <a:r>
              <a:rPr lang="ko-KR" altLang="en-US" dirty="0" err="1"/>
              <a:t>이강</a:t>
            </a:r>
            <a:r>
              <a:rPr lang="ko-KR" altLang="en-US" dirty="0"/>
              <a:t> 사원의 나이를 </a:t>
            </a:r>
            <a:r>
              <a:rPr lang="ko-KR" altLang="en-US" dirty="0" err="1"/>
              <a:t>수정할때</a:t>
            </a:r>
            <a:r>
              <a:rPr lang="ko-KR" altLang="en-US" dirty="0"/>
              <a:t> 동시에 수정될 수 있음</a:t>
            </a:r>
          </a:p>
        </p:txBody>
      </p:sp>
      <p:graphicFrame>
        <p:nvGraphicFramePr>
          <p:cNvPr id="15" name="내용 개체 틀 4">
            <a:extLst>
              <a:ext uri="{FF2B5EF4-FFF2-40B4-BE49-F238E27FC236}">
                <a16:creationId xmlns:a16="http://schemas.microsoft.com/office/drawing/2014/main" id="{BB556DAE-2E4E-4F67-9F8B-2E14433D11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8700508"/>
              </p:ext>
            </p:extLst>
          </p:nvPr>
        </p:nvGraphicFramePr>
        <p:xfrm>
          <a:off x="1403648" y="2126132"/>
          <a:ext cx="4640520" cy="1447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80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4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사원 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501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이강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김산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이강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내용 개체 틀 4">
            <a:extLst>
              <a:ext uri="{FF2B5EF4-FFF2-40B4-BE49-F238E27FC236}">
                <a16:creationId xmlns:a16="http://schemas.microsoft.com/office/drawing/2014/main" id="{B2A49BA1-1DC0-46FD-A2B0-F596FAE068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4319863"/>
              </p:ext>
            </p:extLst>
          </p:nvPr>
        </p:nvGraphicFramePr>
        <p:xfrm>
          <a:off x="6012160" y="2132855"/>
          <a:ext cx="2286738" cy="144368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위치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전산팀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서울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총무팀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인천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총무팀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617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855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관계</a:t>
            </a:r>
            <a:r>
              <a:rPr lang="en-US" altLang="ko-KR" dirty="0"/>
              <a:t>(</a:t>
            </a:r>
            <a:r>
              <a:rPr lang="en-US" altLang="ko-KR" dirty="0" err="1"/>
              <a:t>Releation</a:t>
            </a:r>
            <a:r>
              <a:rPr lang="en-US" altLang="ko-KR" dirty="0"/>
              <a:t>) - </a:t>
            </a:r>
            <a:r>
              <a:rPr lang="ko-KR" altLang="en-US" dirty="0" err="1"/>
              <a:t>외래키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43608" y="1124744"/>
            <a:ext cx="58548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부서와 직원 테이블 생성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en-US" sz="2000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사원</a:t>
            </a:r>
            <a:r>
              <a:rPr lang="en-US" altLang="ko-KR" b="1" dirty="0"/>
              <a:t>(employee)</a:t>
            </a:r>
            <a:r>
              <a:rPr lang="ko-KR" altLang="en-US" b="1" dirty="0"/>
              <a:t> 테이블에 </a:t>
            </a:r>
            <a:r>
              <a:rPr lang="en-US" altLang="ko-KR" b="1" dirty="0"/>
              <a:t>Foreign Key </a:t>
            </a:r>
            <a:r>
              <a:rPr lang="ko-KR" altLang="en-US" b="1" dirty="0"/>
              <a:t>설정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252" y="2335493"/>
            <a:ext cx="6965284" cy="37341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모서리가 둥근 직사각형 9"/>
          <p:cNvSpPr/>
          <p:nvPr/>
        </p:nvSpPr>
        <p:spPr>
          <a:xfrm>
            <a:off x="1619672" y="5517231"/>
            <a:ext cx="6860147" cy="394025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04721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관계</a:t>
            </a:r>
            <a:r>
              <a:rPr lang="en-US" altLang="ko-KR" dirty="0"/>
              <a:t>(</a:t>
            </a:r>
            <a:r>
              <a:rPr lang="en-US" altLang="ko-KR" dirty="0" err="1"/>
              <a:t>Releation</a:t>
            </a:r>
            <a:r>
              <a:rPr lang="en-US" altLang="ko-KR" dirty="0"/>
              <a:t>) – </a:t>
            </a:r>
            <a:r>
              <a:rPr lang="ko-KR" altLang="en-US" dirty="0" err="1"/>
              <a:t>외래키</a:t>
            </a:r>
            <a:r>
              <a:rPr lang="ko-KR" altLang="en-US" dirty="0"/>
              <a:t> 제약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71600" y="1196752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부서와 직원 자료 추가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844824"/>
            <a:ext cx="6386114" cy="21871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5" y="4293096"/>
            <a:ext cx="6386114" cy="10326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64721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관계</a:t>
            </a:r>
            <a:r>
              <a:rPr lang="en-US" altLang="ko-KR" dirty="0"/>
              <a:t>(</a:t>
            </a:r>
            <a:r>
              <a:rPr lang="en-US" altLang="ko-KR" dirty="0" err="1"/>
              <a:t>Releation</a:t>
            </a:r>
            <a:r>
              <a:rPr lang="en-US" altLang="ko-KR" dirty="0"/>
              <a:t>) – </a:t>
            </a:r>
            <a:r>
              <a:rPr lang="ko-KR" altLang="en-US" dirty="0" err="1"/>
              <a:t>외래키</a:t>
            </a:r>
            <a:r>
              <a:rPr lang="ko-KR" altLang="en-US" dirty="0"/>
              <a:t> 제약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71600" y="1124744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부서 자료 삭제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28800"/>
            <a:ext cx="7130758" cy="6720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01" y="2563078"/>
            <a:ext cx="7130758" cy="10783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71600" y="3933055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외래키</a:t>
            </a:r>
            <a:r>
              <a:rPr lang="ko-KR" altLang="en-US" b="1" dirty="0"/>
              <a:t> 제약 조건 삭제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01" y="4365103"/>
            <a:ext cx="4480949" cy="4724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971600" y="5013176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테이블 삭제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21" y="5445224"/>
            <a:ext cx="4508129" cy="6506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0605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 </a:t>
            </a:r>
            <a:r>
              <a:rPr lang="ko-KR" altLang="en-US" sz="2800" dirty="0"/>
              <a:t>정규화</a:t>
            </a:r>
            <a:r>
              <a:rPr lang="en-US" altLang="ko-KR" sz="2800" dirty="0"/>
              <a:t> – </a:t>
            </a:r>
            <a:r>
              <a:rPr lang="ko-KR" altLang="en-US" sz="2800" dirty="0"/>
              <a:t>제</a:t>
            </a:r>
            <a:r>
              <a:rPr lang="en-US" altLang="ko-KR" sz="2800" dirty="0"/>
              <a:t>1 </a:t>
            </a:r>
            <a:r>
              <a:rPr lang="ko-KR" altLang="en-US" sz="2800" dirty="0" err="1"/>
              <a:t>정규형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2474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제</a:t>
            </a:r>
            <a:r>
              <a:rPr lang="en-US" altLang="ko-KR" sz="2000" b="1" dirty="0"/>
              <a:t>1 </a:t>
            </a:r>
            <a:r>
              <a:rPr lang="ko-KR" altLang="en-US" sz="2000" b="1" dirty="0" err="1"/>
              <a:t>정규형</a:t>
            </a:r>
            <a:endParaRPr lang="ko-KR" altLang="en-US" sz="2000" b="1" dirty="0"/>
          </a:p>
        </p:txBody>
      </p:sp>
      <p:graphicFrame>
        <p:nvGraphicFramePr>
          <p:cNvPr id="7" name="내용 개체 틀 4">
            <a:extLst>
              <a:ext uri="{FF2B5EF4-FFF2-40B4-BE49-F238E27FC236}">
                <a16:creationId xmlns:a16="http://schemas.microsoft.com/office/drawing/2014/main" id="{B2A49BA1-1DC0-46FD-A2B0-F596FAE068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6834029"/>
              </p:ext>
            </p:extLst>
          </p:nvPr>
        </p:nvGraphicFramePr>
        <p:xfrm>
          <a:off x="1187624" y="2636913"/>
          <a:ext cx="2448272" cy="2376263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898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4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취미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김연아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인터넷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추신수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영화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음악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박세리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음악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쇼핑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617990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손흥민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컴퓨터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04322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17240" y="1628220"/>
            <a:ext cx="77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관계 데이터베이스에서 </a:t>
            </a:r>
            <a:r>
              <a:rPr lang="ko-KR" altLang="en-US" dirty="0" err="1"/>
              <a:t>릴레이션의</a:t>
            </a:r>
            <a:r>
              <a:rPr lang="ko-KR" altLang="en-US" dirty="0"/>
              <a:t> 속성 값은 반드시 원자값이어야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오른쪽 화살표 7"/>
          <p:cNvSpPr/>
          <p:nvPr/>
        </p:nvSpPr>
        <p:spPr>
          <a:xfrm>
            <a:off x="3923928" y="3284984"/>
            <a:ext cx="504056" cy="288032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내용 개체 틀 4">
            <a:extLst>
              <a:ext uri="{FF2B5EF4-FFF2-40B4-BE49-F238E27FC236}">
                <a16:creationId xmlns:a16="http://schemas.microsoft.com/office/drawing/2014/main" id="{B2A49BA1-1DC0-46FD-A2B0-F596FAE068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1532925"/>
              </p:ext>
            </p:extLst>
          </p:nvPr>
        </p:nvGraphicFramePr>
        <p:xfrm>
          <a:off x="4716016" y="2676597"/>
          <a:ext cx="2448272" cy="3344691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898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4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취미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김연아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인터넷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추신수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추신수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음악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2200763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박세리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음악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617990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박세리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쇼핑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083446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손흥민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컴퓨터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0432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956922F-6704-468E-9860-F34CF1C9E55C}"/>
              </a:ext>
            </a:extLst>
          </p:cNvPr>
          <p:cNvSpPr txBox="1"/>
          <p:nvPr/>
        </p:nvSpPr>
        <p:spPr>
          <a:xfrm>
            <a:off x="1186629" y="2226350"/>
            <a:ext cx="678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고객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E04CF5-A266-4462-99A6-E238EA7B7A66}"/>
              </a:ext>
            </a:extLst>
          </p:cNvPr>
          <p:cNvSpPr txBox="1"/>
          <p:nvPr/>
        </p:nvSpPr>
        <p:spPr>
          <a:xfrm>
            <a:off x="4721925" y="2226350"/>
            <a:ext cx="678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고객</a:t>
            </a:r>
          </a:p>
        </p:txBody>
      </p:sp>
    </p:spTree>
    <p:extLst>
      <p:ext uri="{BB962C8B-B14F-4D97-AF65-F5344CB8AC3E}">
        <p14:creationId xmlns:p14="http://schemas.microsoft.com/office/powerpoint/2010/main" val="3933528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 </a:t>
            </a:r>
            <a:r>
              <a:rPr lang="ko-KR" altLang="en-US" sz="2800" dirty="0"/>
              <a:t>정규화</a:t>
            </a:r>
            <a:r>
              <a:rPr lang="en-US" altLang="ko-KR" sz="2800" dirty="0"/>
              <a:t> – </a:t>
            </a:r>
            <a:r>
              <a:rPr lang="ko-KR" altLang="en-US" sz="2800" dirty="0"/>
              <a:t>제</a:t>
            </a:r>
            <a:r>
              <a:rPr lang="en-US" altLang="ko-KR" sz="2800" dirty="0"/>
              <a:t>2 </a:t>
            </a:r>
            <a:r>
              <a:rPr lang="ko-KR" altLang="en-US" sz="2800" dirty="0" err="1"/>
              <a:t>정규형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2474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제</a:t>
            </a:r>
            <a:r>
              <a:rPr lang="en-US" altLang="ko-KR" sz="2000" b="1" dirty="0"/>
              <a:t>2 </a:t>
            </a:r>
            <a:r>
              <a:rPr lang="ko-KR" altLang="en-US" sz="2000" b="1" dirty="0" err="1"/>
              <a:t>정규형</a:t>
            </a:r>
            <a:endParaRPr lang="ko-KR" altLang="en-US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17240" y="1484784"/>
            <a:ext cx="771520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릴레이션의</a:t>
            </a:r>
            <a:r>
              <a:rPr lang="ko-KR" altLang="en-US" dirty="0"/>
              <a:t> </a:t>
            </a:r>
            <a:r>
              <a:rPr lang="ko-KR" altLang="en-US" dirty="0" err="1"/>
              <a:t>기본키가</a:t>
            </a:r>
            <a:r>
              <a:rPr lang="ko-KR" altLang="en-US" dirty="0"/>
              <a:t> </a:t>
            </a:r>
            <a:r>
              <a:rPr lang="ko-KR" altLang="en-US" dirty="0" err="1"/>
              <a:t>복합키일때</a:t>
            </a:r>
            <a:r>
              <a:rPr lang="ko-KR" altLang="en-US" dirty="0"/>
              <a:t> </a:t>
            </a:r>
            <a:r>
              <a:rPr lang="ko-KR" altLang="en-US" dirty="0" err="1"/>
              <a:t>복합키의</a:t>
            </a:r>
            <a:r>
              <a:rPr lang="ko-KR" altLang="en-US" dirty="0"/>
              <a:t> 일부분이 다른 속성의 결정자인지 여부를 판단하는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BB556DAE-2E4E-4F67-9F8B-2E14433D11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5606875"/>
              </p:ext>
            </p:extLst>
          </p:nvPr>
        </p:nvGraphicFramePr>
        <p:xfrm>
          <a:off x="939044" y="2828718"/>
          <a:ext cx="4392489" cy="283253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88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9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학생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강좌이름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강의실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성적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8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공학관 </a:t>
                      </a:r>
                      <a:r>
                        <a:rPr lang="en-US" altLang="ko-KR" sz="1400" dirty="0"/>
                        <a:t>110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3.5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8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공학관 </a:t>
                      </a:r>
                      <a:r>
                        <a:rPr lang="en-US" altLang="ko-KR" sz="1400" dirty="0"/>
                        <a:t>110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8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스포츠경영학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공학관 </a:t>
                      </a:r>
                      <a:r>
                        <a:rPr lang="en-US" altLang="ko-KR" sz="1400" dirty="0"/>
                        <a:t>103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3.5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8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자료구조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공학관 </a:t>
                      </a:r>
                      <a:r>
                        <a:rPr lang="en-US" altLang="ko-KR" sz="1400" dirty="0"/>
                        <a:t>111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944876"/>
                  </a:ext>
                </a:extLst>
              </a:tr>
              <a:tr h="4628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자료구조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공학관 </a:t>
                      </a:r>
                      <a:r>
                        <a:rPr lang="en-US" altLang="ko-KR" sz="1400" dirty="0"/>
                        <a:t>111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3.5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561202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3580" y="3692813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/>
              <a:t>학생번호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763580" y="4257207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 err="1"/>
              <a:t>강좌이름</a:t>
            </a:r>
            <a:endParaRPr lang="ko-KR" altLang="en-US" sz="1600" dirty="0"/>
          </a:p>
        </p:txBody>
      </p:sp>
      <p:sp>
        <p:nvSpPr>
          <p:cNvPr id="13" name="직사각형 12"/>
          <p:cNvSpPr/>
          <p:nvPr/>
        </p:nvSpPr>
        <p:spPr>
          <a:xfrm>
            <a:off x="5547556" y="3404781"/>
            <a:ext cx="1440160" cy="144016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668344" y="3692813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성적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8344" y="4257207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강의실</a:t>
            </a:r>
          </a:p>
        </p:txBody>
      </p:sp>
      <p:cxnSp>
        <p:nvCxnSpPr>
          <p:cNvPr id="19" name="직선 화살표 연결선 18"/>
          <p:cNvCxnSpPr>
            <a:endCxn id="14" idx="1"/>
          </p:cNvCxnSpPr>
          <p:nvPr/>
        </p:nvCxnSpPr>
        <p:spPr>
          <a:xfrm>
            <a:off x="6987716" y="3862090"/>
            <a:ext cx="680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2" idx="3"/>
            <a:endCxn id="17" idx="1"/>
          </p:cNvCxnSpPr>
          <p:nvPr/>
        </p:nvCxnSpPr>
        <p:spPr>
          <a:xfrm>
            <a:off x="6771692" y="4426484"/>
            <a:ext cx="896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2004" y="2465946"/>
            <a:ext cx="1201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수강강좌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92045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 </a:t>
            </a:r>
            <a:r>
              <a:rPr lang="ko-KR" altLang="en-US" sz="2800" dirty="0"/>
              <a:t>정규화</a:t>
            </a:r>
            <a:r>
              <a:rPr lang="en-US" altLang="ko-KR" sz="2800" dirty="0"/>
              <a:t> – </a:t>
            </a:r>
            <a:r>
              <a:rPr lang="ko-KR" altLang="en-US" sz="2800" dirty="0"/>
              <a:t>제</a:t>
            </a:r>
            <a:r>
              <a:rPr lang="en-US" altLang="ko-KR" sz="2800" dirty="0"/>
              <a:t>2 </a:t>
            </a:r>
            <a:r>
              <a:rPr lang="ko-KR" altLang="en-US" sz="2800" dirty="0" err="1"/>
              <a:t>정규형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24744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제</a:t>
            </a:r>
            <a:r>
              <a:rPr lang="en-US" altLang="ko-KR" sz="2000" b="1" dirty="0"/>
              <a:t>2 </a:t>
            </a:r>
            <a:r>
              <a:rPr lang="ko-KR" altLang="en-US" sz="2000" b="1" dirty="0" err="1"/>
              <a:t>정규형으로</a:t>
            </a:r>
            <a:r>
              <a:rPr lang="ko-KR" altLang="en-US" sz="2000" b="1" dirty="0"/>
              <a:t> 변환</a:t>
            </a:r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BB556DAE-2E4E-4F67-9F8B-2E14433D11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1483940"/>
              </p:ext>
            </p:extLst>
          </p:nvPr>
        </p:nvGraphicFramePr>
        <p:xfrm>
          <a:off x="1229606" y="2038434"/>
          <a:ext cx="3465918" cy="2232249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46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학생번호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강좌이름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성적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3.5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스포츠경영학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3.5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자료구조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944876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자료구조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3.5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561202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62973" y="2420888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/>
              <a:t>학생번호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262973" y="2985282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 err="1"/>
              <a:t>강좌이름</a:t>
            </a:r>
            <a:endParaRPr lang="ko-KR" altLang="en-US" sz="1600" dirty="0"/>
          </a:p>
        </p:txBody>
      </p:sp>
      <p:sp>
        <p:nvSpPr>
          <p:cNvPr id="13" name="직사각형 12"/>
          <p:cNvSpPr/>
          <p:nvPr/>
        </p:nvSpPr>
        <p:spPr>
          <a:xfrm>
            <a:off x="5046949" y="2132856"/>
            <a:ext cx="1440160" cy="144016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167737" y="2420888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성적</a:t>
            </a:r>
          </a:p>
        </p:txBody>
      </p:sp>
      <p:cxnSp>
        <p:nvCxnSpPr>
          <p:cNvPr id="19" name="직선 화살표 연결선 18"/>
          <p:cNvCxnSpPr>
            <a:endCxn id="14" idx="1"/>
          </p:cNvCxnSpPr>
          <p:nvPr/>
        </p:nvCxnSpPr>
        <p:spPr>
          <a:xfrm>
            <a:off x="6487109" y="2590165"/>
            <a:ext cx="680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내용 개체 틀 4">
            <a:extLst>
              <a:ext uri="{FF2B5EF4-FFF2-40B4-BE49-F238E27FC236}">
                <a16:creationId xmlns:a16="http://schemas.microsoft.com/office/drawing/2014/main" id="{BB556DAE-2E4E-4F67-9F8B-2E14433D11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7555725"/>
              </p:ext>
            </p:extLst>
          </p:nvPr>
        </p:nvGraphicFramePr>
        <p:xfrm>
          <a:off x="1229606" y="4840652"/>
          <a:ext cx="2794529" cy="12192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31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강좌이름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강의실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공학관 </a:t>
                      </a:r>
                      <a:r>
                        <a:rPr lang="en-US" altLang="ko-KR" sz="1400" dirty="0"/>
                        <a:t>110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스포츠경영학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공학관 </a:t>
                      </a:r>
                      <a:r>
                        <a:rPr lang="en-US" altLang="ko-KR" sz="1400" dirty="0"/>
                        <a:t>103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자료구조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공학관 </a:t>
                      </a:r>
                      <a:r>
                        <a:rPr lang="en-US" altLang="ko-KR" sz="1400" dirty="0"/>
                        <a:t>111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5612021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262973" y="4852324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 err="1"/>
              <a:t>강좌이름</a:t>
            </a:r>
            <a:endParaRPr lang="ko-KR" alt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7167737" y="4852324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강의실</a:t>
            </a:r>
          </a:p>
        </p:txBody>
      </p:sp>
      <p:cxnSp>
        <p:nvCxnSpPr>
          <p:cNvPr id="20" name="직선 화살표 연결선 19"/>
          <p:cNvCxnSpPr>
            <a:stCxn id="16" idx="3"/>
            <a:endCxn id="18" idx="1"/>
          </p:cNvCxnSpPr>
          <p:nvPr/>
        </p:nvCxnSpPr>
        <p:spPr>
          <a:xfrm>
            <a:off x="6271085" y="5021601"/>
            <a:ext cx="896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29606" y="1700808"/>
            <a:ext cx="678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수강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9606" y="4439032"/>
            <a:ext cx="966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강의실</a:t>
            </a:r>
          </a:p>
        </p:txBody>
      </p:sp>
    </p:spTree>
    <p:extLst>
      <p:ext uri="{BB962C8B-B14F-4D97-AF65-F5344CB8AC3E}">
        <p14:creationId xmlns:p14="http://schemas.microsoft.com/office/powerpoint/2010/main" val="2560185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 </a:t>
            </a:r>
            <a:r>
              <a:rPr lang="ko-KR" altLang="en-US" sz="2800" dirty="0"/>
              <a:t>정규화</a:t>
            </a:r>
            <a:r>
              <a:rPr lang="en-US" altLang="ko-KR" sz="2800" dirty="0"/>
              <a:t> – </a:t>
            </a:r>
            <a:r>
              <a:rPr lang="ko-KR" altLang="en-US" sz="2800" dirty="0"/>
              <a:t>제</a:t>
            </a:r>
            <a:r>
              <a:rPr lang="en-US" altLang="ko-KR" sz="2800" dirty="0"/>
              <a:t>3 </a:t>
            </a:r>
            <a:r>
              <a:rPr lang="ko-KR" altLang="en-US" sz="2800" dirty="0" err="1"/>
              <a:t>정규형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2474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제</a:t>
            </a:r>
            <a:r>
              <a:rPr lang="en-US" altLang="ko-KR" sz="2000" b="1" dirty="0"/>
              <a:t>3 </a:t>
            </a:r>
            <a:r>
              <a:rPr lang="ko-KR" altLang="en-US" sz="2000" b="1" dirty="0" err="1"/>
              <a:t>정규형</a:t>
            </a:r>
            <a:endParaRPr lang="ko-KR" altLang="en-US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17240" y="1484784"/>
            <a:ext cx="77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속성들이 이행적으로 종속되어 있는지 여부를 판단하는 것이다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릴레이션 </a:t>
            </a:r>
            <a:r>
              <a:rPr lang="en-US" altLang="ko-KR" sz="1600" dirty="0"/>
              <a:t>R</a:t>
            </a:r>
            <a:r>
              <a:rPr lang="ko-KR" altLang="en-US" sz="1600" dirty="0"/>
              <a:t>이 제 </a:t>
            </a:r>
            <a:r>
              <a:rPr lang="en-US" altLang="ko-KR" sz="1600" dirty="0"/>
              <a:t>2 </a:t>
            </a:r>
            <a:r>
              <a:rPr lang="ko-KR" altLang="en-US" sz="1600" dirty="0" err="1"/>
              <a:t>정규형이고</a:t>
            </a:r>
            <a:r>
              <a:rPr lang="en-US" altLang="ko-KR" sz="1600" dirty="0"/>
              <a:t> </a:t>
            </a:r>
            <a:r>
              <a:rPr lang="ko-KR" altLang="en-US" sz="1600" dirty="0"/>
              <a:t>기본키가 아닌 속성이 기본키에 비이행적으로 </a:t>
            </a:r>
            <a:r>
              <a:rPr lang="ko-KR" altLang="en-US" sz="1600" dirty="0" err="1"/>
              <a:t>종속할때</a:t>
            </a:r>
            <a:r>
              <a:rPr lang="en-US" altLang="ko-KR" sz="1600" dirty="0"/>
              <a:t>(</a:t>
            </a:r>
            <a:r>
              <a:rPr lang="ko-KR" altLang="en-US" sz="1600" dirty="0"/>
              <a:t>직접 종속</a:t>
            </a:r>
            <a:r>
              <a:rPr lang="en-US" altLang="ko-KR" sz="1600" dirty="0"/>
              <a:t>) </a:t>
            </a:r>
            <a:r>
              <a:rPr lang="ko-KR" altLang="en-US" sz="1600" dirty="0"/>
              <a:t>제</a:t>
            </a:r>
            <a:r>
              <a:rPr lang="en-US" altLang="ko-KR" sz="1600" dirty="0"/>
              <a:t>3 </a:t>
            </a:r>
            <a:r>
              <a:rPr lang="ko-KR" altLang="en-US" sz="1600" dirty="0" err="1"/>
              <a:t>정규형이라고</a:t>
            </a:r>
            <a:r>
              <a:rPr lang="ko-KR" altLang="en-US" sz="1600" dirty="0"/>
              <a:t> 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BB556DAE-2E4E-4F67-9F8B-2E14433D11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6700605"/>
              </p:ext>
            </p:extLst>
          </p:nvPr>
        </p:nvGraphicFramePr>
        <p:xfrm>
          <a:off x="939045" y="2783660"/>
          <a:ext cx="3416933" cy="236965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822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9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학생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강좌이름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수강료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8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20000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8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20000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8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스포츠경영학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15000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8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자료구조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25000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94487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46849" y="3573016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/>
              <a:t>학생번호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228184" y="3573016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 err="1"/>
              <a:t>강좌이름</a:t>
            </a:r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7678688" y="3573016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수강료</a:t>
            </a:r>
          </a:p>
        </p:txBody>
      </p:sp>
      <p:cxnSp>
        <p:nvCxnSpPr>
          <p:cNvPr id="21" name="직선 화살표 연결선 20"/>
          <p:cNvCxnSpPr>
            <a:stCxn id="12" idx="3"/>
            <a:endCxn id="17" idx="1"/>
          </p:cNvCxnSpPr>
          <p:nvPr/>
        </p:nvCxnSpPr>
        <p:spPr>
          <a:xfrm>
            <a:off x="7236296" y="3742293"/>
            <a:ext cx="442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2004" y="2420888"/>
            <a:ext cx="1201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계절학기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3DC6214-3AF3-4235-8134-E3438C81B603}"/>
              </a:ext>
            </a:extLst>
          </p:cNvPr>
          <p:cNvCxnSpPr>
            <a:stCxn id="5" idx="3"/>
            <a:endCxn id="12" idx="1"/>
          </p:cNvCxnSpPr>
          <p:nvPr/>
        </p:nvCxnSpPr>
        <p:spPr>
          <a:xfrm>
            <a:off x="5754961" y="3742293"/>
            <a:ext cx="473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01BB36A6-B33B-4F88-9405-E06A242173AD}"/>
              </a:ext>
            </a:extLst>
          </p:cNvPr>
          <p:cNvCxnSpPr>
            <a:stCxn id="5" idx="2"/>
            <a:endCxn id="17" idx="2"/>
          </p:cNvCxnSpPr>
          <p:nvPr/>
        </p:nvCxnSpPr>
        <p:spPr>
          <a:xfrm rot="16200000" flipH="1">
            <a:off x="6716824" y="2445650"/>
            <a:ext cx="12700" cy="2931839"/>
          </a:xfrm>
          <a:prstGeom prst="bentConnector3">
            <a:avLst>
              <a:gd name="adj1" fmla="val 2325016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136C1C2-21BF-455E-8204-CD4E27175990}"/>
              </a:ext>
            </a:extLst>
          </p:cNvPr>
          <p:cNvSpPr txBox="1"/>
          <p:nvPr/>
        </p:nvSpPr>
        <p:spPr>
          <a:xfrm>
            <a:off x="933390" y="5333333"/>
            <a:ext cx="7715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계절학기 릴레이션의 기본키는 </a:t>
            </a:r>
            <a:r>
              <a:rPr lang="ko-KR" altLang="en-US" sz="1600" dirty="0" err="1"/>
              <a:t>학생번호이고</a:t>
            </a:r>
            <a:r>
              <a:rPr lang="en-US" altLang="ko-KR" sz="1600" dirty="0"/>
              <a:t>, </a:t>
            </a:r>
            <a:r>
              <a:rPr lang="ko-KR" altLang="en-US" sz="1600" dirty="0"/>
              <a:t>기본키가 아닌 속성은 강좌이름</a:t>
            </a:r>
            <a:r>
              <a:rPr lang="en-US" altLang="ko-KR" sz="1600" dirty="0"/>
              <a:t>, </a:t>
            </a:r>
            <a:r>
              <a:rPr lang="ko-KR" altLang="en-US" sz="1600" dirty="0"/>
              <a:t>수강료이다</a:t>
            </a:r>
            <a:r>
              <a:rPr lang="en-US" altLang="ko-KR" sz="1600" dirty="0"/>
              <a:t>. </a:t>
            </a:r>
            <a:r>
              <a:rPr lang="ko-KR" altLang="en-US" sz="1600" dirty="0"/>
              <a:t>강좌이름</a:t>
            </a:r>
            <a:r>
              <a:rPr lang="en-US" altLang="ko-KR" sz="1600" dirty="0"/>
              <a:t>, </a:t>
            </a:r>
            <a:r>
              <a:rPr lang="ko-KR" altLang="en-US" sz="1600" dirty="0"/>
              <a:t>수강료는 모두 기본키에 함수적으로 종속되어 있다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그런데 수강료는 기본키가 아닌 강좌 이름에 한 번 더 종속되어 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(</a:t>
            </a:r>
            <a:r>
              <a:rPr lang="ko-KR" altLang="en-US" sz="1600" dirty="0"/>
              <a:t>학생번호 </a:t>
            </a:r>
            <a:r>
              <a:rPr lang="en-US" altLang="ko-KR" sz="1600" dirty="0"/>
              <a:t>-&gt; </a:t>
            </a:r>
            <a:r>
              <a:rPr lang="ko-KR" altLang="en-US" sz="1600" dirty="0"/>
              <a:t>강좌이름</a:t>
            </a:r>
            <a:r>
              <a:rPr lang="en-US" altLang="ko-KR" sz="1600" dirty="0"/>
              <a:t>), (</a:t>
            </a:r>
            <a:r>
              <a:rPr lang="ko-KR" altLang="en-US" sz="1600" dirty="0"/>
              <a:t>강좌이름 </a:t>
            </a:r>
            <a:r>
              <a:rPr lang="en-US" altLang="ko-KR" sz="1600" dirty="0"/>
              <a:t>-&gt; </a:t>
            </a:r>
            <a:r>
              <a:rPr lang="ko-KR" altLang="en-US" sz="1600" dirty="0"/>
              <a:t>수강료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43714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 </a:t>
            </a:r>
            <a:r>
              <a:rPr lang="ko-KR" altLang="en-US" sz="2800" dirty="0"/>
              <a:t>정규화</a:t>
            </a:r>
            <a:r>
              <a:rPr lang="en-US" altLang="ko-KR" sz="2800" dirty="0"/>
              <a:t> – </a:t>
            </a:r>
            <a:r>
              <a:rPr lang="ko-KR" altLang="en-US" sz="2800" dirty="0"/>
              <a:t>제</a:t>
            </a:r>
            <a:r>
              <a:rPr lang="en-US" altLang="ko-KR" sz="2800" dirty="0"/>
              <a:t>3 </a:t>
            </a:r>
            <a:r>
              <a:rPr lang="ko-KR" altLang="en-US" sz="2800" dirty="0" err="1"/>
              <a:t>정규형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24744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제</a:t>
            </a:r>
            <a:r>
              <a:rPr lang="en-US" altLang="ko-KR" sz="2000" b="1" dirty="0"/>
              <a:t>3 </a:t>
            </a:r>
            <a:r>
              <a:rPr lang="ko-KR" altLang="en-US" sz="2000" b="1" dirty="0"/>
              <a:t>정규형으로 변환</a:t>
            </a:r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BB556DAE-2E4E-4F67-9F8B-2E14433D11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0548293"/>
              </p:ext>
            </p:extLst>
          </p:nvPr>
        </p:nvGraphicFramePr>
        <p:xfrm>
          <a:off x="1372815" y="2060848"/>
          <a:ext cx="2623121" cy="1800201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05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6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학생번호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강좌이름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스포츠경영학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자료구조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94487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97153" y="2780928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/>
              <a:t>학생번호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878488" y="2780928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 err="1"/>
              <a:t>강좌이름</a:t>
            </a:r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6012160" y="4746828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수강료</a:t>
            </a:r>
          </a:p>
        </p:txBody>
      </p:sp>
      <p:cxnSp>
        <p:nvCxnSpPr>
          <p:cNvPr id="21" name="직선 화살표 연결선 20"/>
          <p:cNvCxnSpPr>
            <a:cxnSpLocks/>
            <a:stCxn id="18" idx="3"/>
          </p:cNvCxnSpPr>
          <p:nvPr/>
        </p:nvCxnSpPr>
        <p:spPr>
          <a:xfrm flipV="1">
            <a:off x="5434048" y="4916104"/>
            <a:ext cx="5781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55774" y="1650286"/>
            <a:ext cx="1201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계절수강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3DC6214-3AF3-4235-8134-E3438C81B603}"/>
              </a:ext>
            </a:extLst>
          </p:cNvPr>
          <p:cNvCxnSpPr>
            <a:stCxn id="5" idx="3"/>
            <a:endCxn id="12" idx="1"/>
          </p:cNvCxnSpPr>
          <p:nvPr/>
        </p:nvCxnSpPr>
        <p:spPr>
          <a:xfrm>
            <a:off x="5405265" y="2950205"/>
            <a:ext cx="473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내용 개체 틀 4">
            <a:extLst>
              <a:ext uri="{FF2B5EF4-FFF2-40B4-BE49-F238E27FC236}">
                <a16:creationId xmlns:a16="http://schemas.microsoft.com/office/drawing/2014/main" id="{BFD88EA6-235B-4665-A4D8-55902C709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164648"/>
              </p:ext>
            </p:extLst>
          </p:nvPr>
        </p:nvGraphicFramePr>
        <p:xfrm>
          <a:off x="1401598" y="4461827"/>
          <a:ext cx="2594338" cy="1393959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58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강좌이름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수강료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20000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스포츠경영학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15000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자료구조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25000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94487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05EA33F-A503-4ADD-8009-4635A2237C0E}"/>
              </a:ext>
            </a:extLst>
          </p:cNvPr>
          <p:cNvSpPr txBox="1"/>
          <p:nvPr/>
        </p:nvSpPr>
        <p:spPr>
          <a:xfrm>
            <a:off x="1424011" y="4077072"/>
            <a:ext cx="1201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수강료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EC4192-69B3-4B9D-82D4-459C7F8C056F}"/>
              </a:ext>
            </a:extLst>
          </p:cNvPr>
          <p:cNvSpPr txBox="1"/>
          <p:nvPr/>
        </p:nvSpPr>
        <p:spPr>
          <a:xfrm>
            <a:off x="4425936" y="4746828"/>
            <a:ext cx="1008112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 err="1"/>
              <a:t>강좌이름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0773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3770</TotalTime>
  <Words>748</Words>
  <Application>Microsoft Office PowerPoint</Application>
  <PresentationFormat>화면 슬라이드 쇼(4:3)</PresentationFormat>
  <Paragraphs>284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HY헤드라인M</vt:lpstr>
      <vt:lpstr>맑은 고딕</vt:lpstr>
      <vt:lpstr>휴먼모음T</vt:lpstr>
      <vt:lpstr>휴먼엑스포</vt:lpstr>
      <vt:lpstr>Arial</vt:lpstr>
      <vt:lpstr>Office 테마</vt:lpstr>
      <vt:lpstr>2장. 제약조건, 관계</vt:lpstr>
      <vt:lpstr>  제약 조건</vt:lpstr>
      <vt:lpstr>  제약 조건</vt:lpstr>
      <vt:lpstr>  제약 조건</vt:lpstr>
      <vt:lpstr>  제약 조건</vt:lpstr>
      <vt:lpstr>  DDL - ALTER</vt:lpstr>
      <vt:lpstr>  DDL - ALTER</vt:lpstr>
      <vt:lpstr>  DDL - ALTER</vt:lpstr>
      <vt:lpstr>  DDL - ALTER</vt:lpstr>
      <vt:lpstr>  DDL - DROP</vt:lpstr>
      <vt:lpstr> 관계(Releation)</vt:lpstr>
      <vt:lpstr> 관계(Releation)</vt:lpstr>
      <vt:lpstr> 관계(Releation) - 외래키</vt:lpstr>
      <vt:lpstr> 관계(Releation) – 외래키 제약</vt:lpstr>
      <vt:lpstr> 관계(Releation) – 외래키 제약</vt:lpstr>
      <vt:lpstr> 정규화 – 제1 정규형</vt:lpstr>
      <vt:lpstr> 정규화 – 제2 정규형</vt:lpstr>
      <vt:lpstr> 정규화 – 제2 정규형</vt:lpstr>
      <vt:lpstr> 정규화 – 제3 정규형</vt:lpstr>
      <vt:lpstr> 정규화 – 제3 정규형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508호 강사PC</cp:lastModifiedBy>
  <cp:revision>292</cp:revision>
  <dcterms:created xsi:type="dcterms:W3CDTF">2019-03-04T02:36:55Z</dcterms:created>
  <dcterms:modified xsi:type="dcterms:W3CDTF">2023-04-09T01:18:43Z</dcterms:modified>
</cp:coreProperties>
</file>