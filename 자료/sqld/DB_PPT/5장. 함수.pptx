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1"/>
  </p:notesMasterIdLst>
  <p:sldIdLst>
    <p:sldId id="256" r:id="rId2"/>
    <p:sldId id="294" r:id="rId3"/>
    <p:sldId id="279" r:id="rId4"/>
    <p:sldId id="288" r:id="rId5"/>
    <p:sldId id="296" r:id="rId6"/>
    <p:sldId id="295" r:id="rId7"/>
    <p:sldId id="267" r:id="rId8"/>
    <p:sldId id="286" r:id="rId9"/>
    <p:sldId id="302" r:id="rId10"/>
    <p:sldId id="287" r:id="rId11"/>
    <p:sldId id="280" r:id="rId12"/>
    <p:sldId id="289" r:id="rId13"/>
    <p:sldId id="297" r:id="rId14"/>
    <p:sldId id="281" r:id="rId15"/>
    <p:sldId id="282" r:id="rId16"/>
    <p:sldId id="298" r:id="rId17"/>
    <p:sldId id="290" r:id="rId18"/>
    <p:sldId id="303" r:id="rId19"/>
    <p:sldId id="304" r:id="rId20"/>
    <p:sldId id="271" r:id="rId21"/>
    <p:sldId id="305" r:id="rId22"/>
    <p:sldId id="306" r:id="rId23"/>
    <p:sldId id="308" r:id="rId24"/>
    <p:sldId id="307" r:id="rId25"/>
    <p:sldId id="284" r:id="rId26"/>
    <p:sldId id="292" r:id="rId27"/>
    <p:sldId id="299" r:id="rId28"/>
    <p:sldId id="300" r:id="rId29"/>
    <p:sldId id="301" r:id="rId30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5758FB7-9AC5-4552-8A53-C91805E547FA}" styleName="테마 스타일 1 - 강조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46" autoAdjust="0"/>
    <p:restoredTop sz="94660"/>
  </p:normalViewPr>
  <p:slideViewPr>
    <p:cSldViewPr>
      <p:cViewPr varScale="1">
        <p:scale>
          <a:sx n="82" d="100"/>
          <a:sy n="82" d="100"/>
        </p:scale>
        <p:origin x="1464" y="6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65CDAC-D627-4E87-877A-1B781DD4CADC}" type="datetimeFigureOut">
              <a:rPr lang="ko-KR" altLang="en-US" smtClean="0"/>
              <a:t>2023-04-13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ADDD8A-FD4C-4C63-90D4-202AFE8080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9645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051721" y="1379514"/>
            <a:ext cx="6334472" cy="1226567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979712" y="2667615"/>
            <a:ext cx="7164288" cy="455479"/>
          </a:xfrm>
          <a:solidFill>
            <a:srgbClr val="00B0F0"/>
          </a:solidFill>
        </p:spPr>
        <p:txBody>
          <a:bodyPr anchor="ctr" anchorCtr="0">
            <a:noAutofit/>
          </a:bodyPr>
          <a:lstStyle>
            <a:lvl1pPr marL="0" indent="0" algn="l">
              <a:buNone/>
              <a:defRPr sz="2000" i="1">
                <a:solidFill>
                  <a:srgbClr val="00206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 smtClean="0"/>
              <a:t>마스터 부제목 스타일 편집</a:t>
            </a:r>
            <a:endParaRPr lang="ko-KR" altLang="en-US" dirty="0"/>
          </a:p>
        </p:txBody>
      </p:sp>
      <p:sp>
        <p:nvSpPr>
          <p:cNvPr id="7" name="직사각형 6"/>
          <p:cNvSpPr/>
          <p:nvPr userDrawn="1"/>
        </p:nvSpPr>
        <p:spPr>
          <a:xfrm>
            <a:off x="0" y="0"/>
            <a:ext cx="1979712" cy="2691046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 userDrawn="1"/>
        </p:nvSpPr>
        <p:spPr>
          <a:xfrm>
            <a:off x="0" y="2667615"/>
            <a:ext cx="1979712" cy="478905"/>
          </a:xfrm>
          <a:prstGeom prst="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" name="이등변 삼각형 8"/>
          <p:cNvSpPr/>
          <p:nvPr userDrawn="1"/>
        </p:nvSpPr>
        <p:spPr>
          <a:xfrm rot="5400000">
            <a:off x="1214689" y="2735987"/>
            <a:ext cx="432048" cy="342165"/>
          </a:xfrm>
          <a:prstGeom prst="triangle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0" name="이등변 삼각형 9"/>
          <p:cNvSpPr/>
          <p:nvPr userDrawn="1"/>
        </p:nvSpPr>
        <p:spPr>
          <a:xfrm rot="5400000">
            <a:off x="1556854" y="2735988"/>
            <a:ext cx="432048" cy="342165"/>
          </a:xfrm>
          <a:prstGeom prst="triangle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 userDrawn="1"/>
        </p:nvSpPr>
        <p:spPr>
          <a:xfrm>
            <a:off x="0" y="3130698"/>
            <a:ext cx="1979712" cy="3727302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160" y="3868810"/>
            <a:ext cx="2269834" cy="2251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718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ko-KR" altLang="en-US" dirty="0" smtClean="0"/>
              <a:t> 마스터 제목 스타일 편집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4779-FB94-4D0A-9770-16BB460ADD4B}" type="datetime1">
              <a:rPr lang="ko-KR" altLang="en-US" smtClean="0"/>
              <a:t>2023-04-13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342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87F0D-089E-4098-8EE9-5721C76E52EC}" type="datetime1">
              <a:rPr lang="ko-KR" altLang="en-US" smtClean="0"/>
              <a:t>2023-04-13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5474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650FE-E6B2-4D57-AAF6-1B2A37421AAD}" type="datetime1">
              <a:rPr lang="ko-KR" altLang="en-US" smtClean="0"/>
              <a:t>2023-04-13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6685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20C2-C949-4E4F-9580-FEE4F2DAC554}" type="datetime1">
              <a:rPr lang="ko-KR" altLang="en-US" smtClean="0"/>
              <a:t>2023-04-13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31454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DBFE0-70CA-4AA9-9C17-F02054822E7E}" type="datetime1">
              <a:rPr lang="ko-KR" altLang="en-US" smtClean="0"/>
              <a:t>2023-04-13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5068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84A72-C6AC-45C3-AE5A-9CF6D245353A}" type="datetime1">
              <a:rPr lang="ko-KR" altLang="en-US" smtClean="0"/>
              <a:t>2023-04-13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5332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1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2D9E8D-7616-4FA8-9B12-88059974D499}" type="datetime1">
              <a:rPr lang="ko-KR" altLang="en-US" smtClean="0"/>
              <a:t>2023-04-13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10448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F4C3F6-B4DC-4E51-8609-BCC628ECDBF3}" type="datetime1">
              <a:rPr lang="ko-KR" altLang="en-US" smtClean="0"/>
              <a:t>2023-04-13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02738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0FE80-3752-4C44-80B8-E31C3450070D}" type="datetime1">
              <a:rPr lang="ko-KR" altLang="en-US" smtClean="0"/>
              <a:t>2023-04-13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8060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40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88D13-428F-4553-BC93-2E91B1DA3F5C}" type="datetime1">
              <a:rPr lang="ko-KR" altLang="en-US" smtClean="0"/>
              <a:t>2023-04-13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1854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24744"/>
            <a:ext cx="8229600" cy="5040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C4C586-F21B-48DD-B591-4B12E73E0749}" type="datetime1">
              <a:rPr lang="ko-KR" altLang="en-US" smtClean="0"/>
              <a:t>2023-04-13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8" name="직사각형 7"/>
          <p:cNvSpPr/>
          <p:nvPr userDrawn="1"/>
        </p:nvSpPr>
        <p:spPr>
          <a:xfrm>
            <a:off x="0" y="6381328"/>
            <a:ext cx="9144000" cy="476672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0" name="다이아몬드 9"/>
          <p:cNvSpPr/>
          <p:nvPr userDrawn="1"/>
        </p:nvSpPr>
        <p:spPr>
          <a:xfrm>
            <a:off x="107505" y="6093296"/>
            <a:ext cx="465282" cy="590922"/>
          </a:xfrm>
          <a:prstGeom prst="diamond">
            <a:avLst/>
          </a:prstGeom>
          <a:solidFill>
            <a:srgbClr val="002060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" name="다이아몬드 8"/>
          <p:cNvSpPr/>
          <p:nvPr userDrawn="1"/>
        </p:nvSpPr>
        <p:spPr>
          <a:xfrm>
            <a:off x="251521" y="6093296"/>
            <a:ext cx="465282" cy="590922"/>
          </a:xfrm>
          <a:prstGeom prst="diamond">
            <a:avLst/>
          </a:prstGeom>
          <a:solidFill>
            <a:srgbClr val="0070C0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 userDrawn="1"/>
        </p:nvSpPr>
        <p:spPr>
          <a:xfrm>
            <a:off x="0" y="0"/>
            <a:ext cx="9144000" cy="836712"/>
          </a:xfrm>
          <a:prstGeom prst="rect">
            <a:avLst/>
          </a:prstGeom>
          <a:solidFill>
            <a:srgbClr val="00B05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" y="-18256"/>
            <a:ext cx="5724128" cy="8549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 smtClean="0"/>
              <a:t>    마스터 제목 스타일 편집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172400" y="6453338"/>
            <a:ext cx="514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0070C0"/>
                </a:solidFill>
              </a:defRPr>
            </a:lvl1pPr>
          </a:lstStyle>
          <a:p>
            <a:fld id="{1BDE3FE7-3AEA-4B05-AC5A-802D1816ACF0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125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3200" kern="1200">
          <a:solidFill>
            <a:schemeClr val="bg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051720" y="1379514"/>
            <a:ext cx="5184576" cy="1226567"/>
          </a:xfrm>
        </p:spPr>
        <p:txBody>
          <a:bodyPr>
            <a:normAutofit/>
          </a:bodyPr>
          <a:lstStyle/>
          <a:p>
            <a:pPr algn="l"/>
            <a:r>
              <a:rPr lang="en-US" altLang="ko-KR" b="1" dirty="0">
                <a:solidFill>
                  <a:srgbClr val="0070C0"/>
                </a:solidFill>
                <a:latin typeface="휴먼엑스포" panose="02030504000101010101" pitchFamily="18" charset="-127"/>
                <a:ea typeface="휴먼엑스포" panose="02030504000101010101" pitchFamily="18" charset="-127"/>
              </a:rPr>
              <a:t>5</a:t>
            </a:r>
            <a:r>
              <a:rPr lang="ko-KR" altLang="en-US" b="1" dirty="0" smtClean="0">
                <a:solidFill>
                  <a:srgbClr val="0070C0"/>
                </a:solidFill>
                <a:latin typeface="휴먼엑스포" panose="02030504000101010101" pitchFamily="18" charset="-127"/>
                <a:ea typeface="휴먼엑스포" panose="02030504000101010101" pitchFamily="18" charset="-127"/>
              </a:rPr>
              <a:t>장</a:t>
            </a:r>
            <a:r>
              <a:rPr lang="en-US" altLang="ko-KR" b="1" dirty="0" smtClean="0">
                <a:solidFill>
                  <a:srgbClr val="0070C0"/>
                </a:solidFill>
                <a:latin typeface="휴먼엑스포" panose="02030504000101010101" pitchFamily="18" charset="-127"/>
                <a:ea typeface="휴먼엑스포" panose="02030504000101010101" pitchFamily="18" charset="-127"/>
              </a:rPr>
              <a:t>.  </a:t>
            </a:r>
            <a:r>
              <a:rPr lang="ko-KR" altLang="en-US" b="1" dirty="0" smtClean="0">
                <a:solidFill>
                  <a:srgbClr val="0070C0"/>
                </a:solidFill>
                <a:latin typeface="휴먼엑스포" panose="02030504000101010101" pitchFamily="18" charset="-127"/>
                <a:ea typeface="휴먼엑스포" panose="02030504000101010101" pitchFamily="18" charset="-127"/>
              </a:rPr>
              <a:t>함수</a:t>
            </a:r>
            <a:endParaRPr lang="ko-KR" altLang="en-US" b="1" dirty="0">
              <a:solidFill>
                <a:srgbClr val="0070C0"/>
              </a:solidFill>
              <a:latin typeface="휴먼엑스포" panose="02030504000101010101" pitchFamily="18" charset="-127"/>
              <a:ea typeface="휴먼엑스포" panose="02030504000101010101" pitchFamily="18" charset="-127"/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979712" y="2674416"/>
            <a:ext cx="7164288" cy="456974"/>
          </a:xfrm>
          <a:solidFill>
            <a:srgbClr val="FFC000"/>
          </a:solidFill>
        </p:spPr>
        <p:txBody>
          <a:bodyPr anchor="ctr" anchorCtr="0">
            <a:noAutofit/>
          </a:bodyPr>
          <a:lstStyle/>
          <a:p>
            <a:pPr algn="l"/>
            <a:r>
              <a:rPr lang="en-US" altLang="ko-KR" sz="1800" i="1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endParaRPr lang="ko-KR" altLang="en-US" sz="1600" i="1" dirty="0">
              <a:solidFill>
                <a:schemeClr val="tx1">
                  <a:lumMod val="65000"/>
                  <a:lumOff val="35000"/>
                </a:schemeClr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4" name="AutoShape 5" descr="C++ì ëí ì´ë¯¸ì§ ê²ìê²°ê³¼"/>
          <p:cNvSpPr>
            <a:spLocks noChangeAspect="1" noChangeArrowheads="1"/>
          </p:cNvSpPr>
          <p:nvPr/>
        </p:nvSpPr>
        <p:spPr bwMode="auto">
          <a:xfrm>
            <a:off x="1682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758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  SQL </a:t>
            </a:r>
            <a:r>
              <a:rPr lang="ko-KR" altLang="en-US" dirty="0" smtClean="0"/>
              <a:t>내장 함수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12" name="내용 개체 틀 2"/>
          <p:cNvSpPr txBox="1">
            <a:spLocks/>
          </p:cNvSpPr>
          <p:nvPr/>
        </p:nvSpPr>
        <p:spPr>
          <a:xfrm>
            <a:off x="467544" y="1052736"/>
            <a:ext cx="2160240" cy="504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dirty="0"/>
              <a:t> </a:t>
            </a:r>
            <a:r>
              <a:rPr lang="en-US" altLang="ko-KR" sz="2000" b="1" dirty="0" smtClean="0"/>
              <a:t>SQL </a:t>
            </a:r>
            <a:r>
              <a:rPr lang="ko-KR" altLang="en-US" sz="2000" b="1" dirty="0" smtClean="0"/>
              <a:t>내장함수</a:t>
            </a:r>
            <a:endParaRPr lang="en-US" altLang="ko-KR" sz="1800" dirty="0" smtClean="0"/>
          </a:p>
        </p:txBody>
      </p:sp>
      <p:sp>
        <p:nvSpPr>
          <p:cNvPr id="3" name="TextBox 2"/>
          <p:cNvSpPr txBox="1"/>
          <p:nvPr/>
        </p:nvSpPr>
        <p:spPr>
          <a:xfrm>
            <a:off x="683568" y="1732166"/>
            <a:ext cx="79208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smtClean="0"/>
              <a:t>수학에서 함수 </a:t>
            </a:r>
            <a:r>
              <a:rPr lang="en-US" altLang="ko-KR" sz="1600" dirty="0" smtClean="0"/>
              <a:t>y=f(x)</a:t>
            </a:r>
            <a:r>
              <a:rPr lang="ko-KR" altLang="en-US" sz="1600" dirty="0" smtClean="0"/>
              <a:t>는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값 </a:t>
            </a:r>
            <a:r>
              <a:rPr lang="en-US" altLang="ko-KR" sz="1600" dirty="0" smtClean="0"/>
              <a:t>x</a:t>
            </a:r>
            <a:r>
              <a:rPr lang="ko-KR" altLang="en-US" sz="1600" dirty="0" smtClean="0"/>
              <a:t>를 함수 </a:t>
            </a:r>
            <a:r>
              <a:rPr lang="en-US" altLang="ko-KR" sz="1600" dirty="0" smtClean="0"/>
              <a:t>f</a:t>
            </a:r>
            <a:r>
              <a:rPr lang="ko-KR" altLang="en-US" sz="1600" dirty="0" smtClean="0"/>
              <a:t>에 넣으면 </a:t>
            </a:r>
            <a:r>
              <a:rPr lang="en-US" altLang="ko-KR" sz="1600" dirty="0" smtClean="0"/>
              <a:t>y</a:t>
            </a:r>
            <a:r>
              <a:rPr lang="ko-KR" altLang="en-US" sz="1600" dirty="0" smtClean="0"/>
              <a:t>값을 결과로 반환한다는 의미이다</a:t>
            </a:r>
            <a:r>
              <a:rPr lang="en-US" altLang="ko-KR" sz="1600" dirty="0" smtClean="0"/>
              <a:t>.</a:t>
            </a: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ko-KR" altLang="en-US" sz="1600" dirty="0" smtClean="0"/>
              <a:t>수학의 함수와 마찬가지로 특정 값이나 열이 값을 </a:t>
            </a:r>
            <a:r>
              <a:rPr lang="ko-KR" altLang="en-US" sz="1600" dirty="0" err="1" smtClean="0"/>
              <a:t>입력받아</a:t>
            </a:r>
            <a:r>
              <a:rPr lang="ko-KR" altLang="en-US" sz="1600" dirty="0" smtClean="0"/>
              <a:t> 그 값을 계산하여 결과값을 돌려 준다</a:t>
            </a:r>
            <a:r>
              <a:rPr lang="en-US" altLang="ko-KR" sz="1600" dirty="0" smtClean="0"/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568" y="3212976"/>
            <a:ext cx="621356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smtClean="0"/>
              <a:t>상수나 속성 이름을 입력 값으로 받아 단일 값을 결과로 반환한다</a:t>
            </a:r>
            <a:r>
              <a:rPr lang="en-US" altLang="ko-KR" sz="1600" dirty="0" smtClean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600" dirty="0" smtClean="0"/>
              <a:t>모든 내장 함수는 최초에 선언될 때 유효한 </a:t>
            </a:r>
            <a:r>
              <a:rPr lang="ko-KR" altLang="en-US" sz="1600" dirty="0" err="1" smtClean="0"/>
              <a:t>입력값을</a:t>
            </a:r>
            <a:r>
              <a:rPr lang="ko-KR" altLang="en-US" sz="1600" dirty="0" smtClean="0"/>
              <a:t> 받아야 한다</a:t>
            </a:r>
            <a:r>
              <a:rPr lang="en-US" altLang="ko-KR" sz="1600" dirty="0" smtClean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600" dirty="0" smtClean="0"/>
              <a:t>예를 들어 수학 함수의 </a:t>
            </a:r>
            <a:r>
              <a:rPr lang="ko-KR" altLang="en-US" sz="1600" dirty="0" err="1" smtClean="0"/>
              <a:t>입력값은</a:t>
            </a:r>
            <a:r>
              <a:rPr lang="ko-KR" altLang="en-US" sz="1600" dirty="0" smtClean="0"/>
              <a:t> 정수 또는 실수 여야 한다</a:t>
            </a:r>
            <a:r>
              <a:rPr lang="en-US" altLang="ko-KR" sz="1600" dirty="0" smtClean="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600" dirty="0" smtClean="0"/>
              <a:t>SELECT </a:t>
            </a:r>
            <a:r>
              <a:rPr lang="ko-KR" altLang="en-US" sz="1600" dirty="0" smtClean="0"/>
              <a:t>절과 </a:t>
            </a:r>
            <a:r>
              <a:rPr lang="en-US" altLang="ko-KR" sz="1600" dirty="0" smtClean="0"/>
              <a:t>WHERE </a:t>
            </a:r>
            <a:r>
              <a:rPr lang="ko-KR" altLang="en-US" sz="1600" dirty="0" smtClean="0"/>
              <a:t>절</a:t>
            </a:r>
            <a:r>
              <a:rPr lang="en-US" altLang="ko-KR" sz="1600" dirty="0" smtClean="0"/>
              <a:t>, UPDATE </a:t>
            </a:r>
            <a:r>
              <a:rPr lang="ko-KR" altLang="en-US" sz="1600" dirty="0" smtClean="0"/>
              <a:t>절 등에서 모두 사용 가능하다</a:t>
            </a:r>
            <a:r>
              <a:rPr lang="en-US" altLang="ko-KR" sz="1600" dirty="0" smtClean="0"/>
              <a:t>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1275276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  </a:t>
            </a:r>
            <a:r>
              <a:rPr lang="ko-KR" altLang="en-US" dirty="0" err="1" smtClean="0"/>
              <a:t>단일행</a:t>
            </a:r>
            <a:r>
              <a:rPr lang="ko-KR" altLang="en-US" dirty="0" smtClean="0"/>
              <a:t> 함수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12" name="내용 개체 틀 2"/>
          <p:cNvSpPr txBox="1">
            <a:spLocks/>
          </p:cNvSpPr>
          <p:nvPr/>
        </p:nvSpPr>
        <p:spPr>
          <a:xfrm>
            <a:off x="467544" y="1052736"/>
            <a:ext cx="2160240" cy="504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000" dirty="0"/>
              <a:t> </a:t>
            </a:r>
            <a:r>
              <a:rPr lang="ko-KR" altLang="en-US" sz="2000" b="1" dirty="0" smtClean="0"/>
              <a:t>숫자 타입 함수</a:t>
            </a:r>
            <a:endParaRPr lang="en-US" altLang="ko-KR" sz="2000" dirty="0" smtClean="0"/>
          </a:p>
        </p:txBody>
      </p:sp>
      <p:graphicFrame>
        <p:nvGraphicFramePr>
          <p:cNvPr id="10" name="내용 개체 틀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77726805"/>
              </p:ext>
            </p:extLst>
          </p:nvPr>
        </p:nvGraphicFramePr>
        <p:xfrm>
          <a:off x="467544" y="1772816"/>
          <a:ext cx="8280921" cy="3888432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152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8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6815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/>
                        <a:t>함수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/>
                        <a:t>설명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/>
                        <a:t>예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/>
                        <a:t>결과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ROUND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baseline="0" dirty="0" smtClean="0"/>
                        <a:t> </a:t>
                      </a:r>
                      <a:r>
                        <a:rPr lang="ko-KR" altLang="en-US" sz="1600" baseline="0" dirty="0" smtClean="0"/>
                        <a:t>숫자를 반올림한다</a:t>
                      </a:r>
                      <a:r>
                        <a:rPr lang="en-US" altLang="ko-KR" sz="1600" baseline="0" dirty="0" smtClean="0"/>
                        <a:t>.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ROUND(12.583,</a:t>
                      </a:r>
                      <a:r>
                        <a:rPr lang="en-US" altLang="ko-KR" sz="1600" baseline="0" dirty="0" smtClean="0"/>
                        <a:t> 1</a:t>
                      </a:r>
                      <a:r>
                        <a:rPr lang="en-US" altLang="ko-KR" sz="1600" dirty="0" smtClean="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12.6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TRUNC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숫자를 절삭한다</a:t>
                      </a:r>
                      <a:r>
                        <a:rPr lang="en-US" altLang="ko-KR" sz="1600" dirty="0" smtClean="0"/>
                        <a:t>.(</a:t>
                      </a:r>
                      <a:r>
                        <a:rPr lang="ko-KR" altLang="en-US" sz="1600" dirty="0" smtClean="0"/>
                        <a:t>버림</a:t>
                      </a:r>
                      <a:r>
                        <a:rPr lang="en-US" altLang="ko-KR" sz="1600" dirty="0" smtClean="0"/>
                        <a:t>)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TRUNC(12.583,</a:t>
                      </a:r>
                      <a:r>
                        <a:rPr lang="en-US" altLang="ko-KR" sz="1600" baseline="0" dirty="0" smtClean="0"/>
                        <a:t> 1</a:t>
                      </a:r>
                      <a:r>
                        <a:rPr lang="en-US" altLang="ko-KR" sz="1600" dirty="0" smtClean="0"/>
                        <a:t>)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12.5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MOD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나누기 후 나머지를 구한다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MOD(15,</a:t>
                      </a:r>
                      <a:r>
                        <a:rPr lang="en-US" altLang="ko-KR" sz="1600" baseline="0" dirty="0" smtClean="0"/>
                        <a:t> 2</a:t>
                      </a:r>
                      <a:r>
                        <a:rPr lang="en-US" altLang="ko-KR" sz="1600" dirty="0" smtClean="0"/>
                        <a:t>)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1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CEIL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숫자를 정수로 </a:t>
                      </a:r>
                      <a:r>
                        <a:rPr lang="ko-KR" altLang="en-US" sz="1600" dirty="0" err="1" smtClean="0"/>
                        <a:t>올림한다</a:t>
                      </a:r>
                      <a:r>
                        <a:rPr lang="en-US" altLang="ko-KR" sz="1600" dirty="0" smtClean="0"/>
                        <a:t>.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CEIL(15.351)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16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FLOOR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숫자를 정수로 </a:t>
                      </a:r>
                      <a:r>
                        <a:rPr lang="ko-KR" altLang="en-US" sz="1600" dirty="0" err="1" smtClean="0"/>
                        <a:t>내림한다</a:t>
                      </a:r>
                      <a:r>
                        <a:rPr lang="en-US" altLang="ko-KR" sz="1600" dirty="0" smtClean="0"/>
                        <a:t>.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FLOOR(15.351)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15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ABS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절대값을 구한다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ABS(-10)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10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POWER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거듭제곱을 구한다</a:t>
                      </a:r>
                      <a:r>
                        <a:rPr lang="en-US" altLang="ko-KR" sz="1600" dirty="0" smtClean="0"/>
                        <a:t>.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POWER(2,</a:t>
                      </a:r>
                      <a:r>
                        <a:rPr lang="en-US" altLang="ko-KR" sz="1600" baseline="0" dirty="0" smtClean="0"/>
                        <a:t> 3</a:t>
                      </a:r>
                      <a:r>
                        <a:rPr lang="en-US" altLang="ko-KR" sz="1600" dirty="0" smtClean="0"/>
                        <a:t>)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8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baseline="0" dirty="0" smtClean="0"/>
                        <a:t> SQRT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제곱근을 구한다</a:t>
                      </a:r>
                      <a:r>
                        <a:rPr lang="en-US" altLang="ko-KR" sz="1600" dirty="0" smtClean="0"/>
                        <a:t>.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SQRT(4)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2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64601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  </a:t>
            </a:r>
            <a:r>
              <a:rPr lang="ko-KR" altLang="en-US" dirty="0" smtClean="0"/>
              <a:t>숫</a:t>
            </a:r>
            <a:r>
              <a:rPr lang="ko-KR" altLang="en-US" dirty="0"/>
              <a:t>자</a:t>
            </a:r>
            <a:r>
              <a:rPr lang="ko-KR" altLang="en-US" dirty="0" smtClean="0"/>
              <a:t> 함수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7624" y="1484784"/>
            <a:ext cx="6138759" cy="194421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9992" y="3843836"/>
            <a:ext cx="1584176" cy="50120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0168" y="4725143"/>
            <a:ext cx="1567172" cy="5413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0332435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  </a:t>
            </a:r>
            <a:r>
              <a:rPr lang="ko-KR" altLang="en-US" dirty="0" smtClean="0"/>
              <a:t>숫</a:t>
            </a:r>
            <a:r>
              <a:rPr lang="ko-KR" altLang="en-US" dirty="0"/>
              <a:t>자</a:t>
            </a:r>
            <a:r>
              <a:rPr lang="ko-KR" altLang="en-US" dirty="0" smtClean="0"/>
              <a:t> 함수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924" y="1268760"/>
            <a:ext cx="5121084" cy="1607959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924" y="3861048"/>
            <a:ext cx="5509738" cy="1600339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924" y="3003080"/>
            <a:ext cx="6652837" cy="602032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923" y="5589239"/>
            <a:ext cx="6652837" cy="64331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6658777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  </a:t>
            </a:r>
            <a:r>
              <a:rPr lang="ko-KR" altLang="en-US" dirty="0" smtClean="0"/>
              <a:t>숫</a:t>
            </a:r>
            <a:r>
              <a:rPr lang="ko-KR" altLang="en-US" dirty="0"/>
              <a:t>자</a:t>
            </a:r>
            <a:r>
              <a:rPr lang="ko-KR" altLang="en-US" dirty="0" smtClean="0"/>
              <a:t> 함수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187" y="1690946"/>
            <a:ext cx="5431149" cy="1368152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8724" y="1749406"/>
            <a:ext cx="1486029" cy="111261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998" y="3590788"/>
            <a:ext cx="5959356" cy="1066892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203689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  </a:t>
            </a:r>
            <a:r>
              <a:rPr lang="ko-KR" altLang="en-US" dirty="0" err="1" smtClean="0"/>
              <a:t>단일행</a:t>
            </a:r>
            <a:r>
              <a:rPr lang="ko-KR" altLang="en-US" dirty="0" smtClean="0"/>
              <a:t> 함수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12" name="내용 개체 틀 2"/>
          <p:cNvSpPr txBox="1">
            <a:spLocks/>
          </p:cNvSpPr>
          <p:nvPr/>
        </p:nvSpPr>
        <p:spPr>
          <a:xfrm>
            <a:off x="467544" y="1052736"/>
            <a:ext cx="2160240" cy="504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dirty="0"/>
              <a:t> </a:t>
            </a:r>
            <a:r>
              <a:rPr lang="ko-KR" altLang="en-US" sz="2000" b="1" dirty="0" smtClean="0"/>
              <a:t>문자 타입 함수</a:t>
            </a:r>
            <a:endParaRPr lang="en-US" altLang="ko-KR" sz="1800" dirty="0" smtClean="0"/>
          </a:p>
        </p:txBody>
      </p:sp>
      <p:graphicFrame>
        <p:nvGraphicFramePr>
          <p:cNvPr id="10" name="내용 개체 틀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32093450"/>
              </p:ext>
            </p:extLst>
          </p:nvPr>
        </p:nvGraphicFramePr>
        <p:xfrm>
          <a:off x="467543" y="1700808"/>
          <a:ext cx="8280921" cy="4176469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152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8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6815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96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/>
                        <a:t>함수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/>
                        <a:t>설명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/>
                        <a:t>예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/>
                        <a:t>결과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679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LOWER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baseline="0" dirty="0" smtClean="0"/>
                        <a:t> </a:t>
                      </a:r>
                      <a:r>
                        <a:rPr lang="ko-KR" altLang="en-US" sz="1600" baseline="0" dirty="0" smtClean="0"/>
                        <a:t>값을 소문자로 변환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LOWER(‘ABCD’)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</a:t>
                      </a:r>
                      <a:r>
                        <a:rPr lang="en-US" altLang="ko-KR" sz="1600" dirty="0" err="1" smtClean="0"/>
                        <a:t>abcd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679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UPPER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aseline="0" dirty="0" smtClean="0"/>
                        <a:t> </a:t>
                      </a:r>
                      <a:r>
                        <a:rPr lang="ko-KR" altLang="en-US" sz="1600" baseline="0" dirty="0" smtClean="0"/>
                        <a:t>값을 대문자로 변환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UPPER(‘</a:t>
                      </a:r>
                      <a:r>
                        <a:rPr lang="en-US" altLang="ko-KR" sz="1600" dirty="0" err="1" smtClean="0"/>
                        <a:t>abcd</a:t>
                      </a:r>
                      <a:r>
                        <a:rPr lang="en-US" altLang="ko-KR" sz="1600" dirty="0" smtClean="0"/>
                        <a:t>’)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ABCD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679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INITCAP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aseline="0" dirty="0" smtClean="0"/>
                        <a:t> </a:t>
                      </a:r>
                      <a:r>
                        <a:rPr lang="ko-KR" altLang="en-US" sz="1600" baseline="0" dirty="0" err="1" smtClean="0"/>
                        <a:t>첫번째</a:t>
                      </a:r>
                      <a:r>
                        <a:rPr lang="ko-KR" altLang="en-US" sz="1600" baseline="0" dirty="0" smtClean="0"/>
                        <a:t> 글자만 대문자로 변환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INITCAP (‘</a:t>
                      </a:r>
                      <a:r>
                        <a:rPr lang="en-US" altLang="ko-KR" sz="1600" dirty="0" err="1" smtClean="0"/>
                        <a:t>abcd</a:t>
                      </a:r>
                      <a:r>
                        <a:rPr lang="en-US" altLang="ko-KR" sz="1600" dirty="0" smtClean="0"/>
                        <a:t>’)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</a:t>
                      </a:r>
                      <a:r>
                        <a:rPr lang="en-US" altLang="ko-KR" sz="1600" dirty="0" err="1" smtClean="0"/>
                        <a:t>Abcd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9679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SUBSTR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문자열중 일부분을 선택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SUBSTR(‘ABC’, 1, 2)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AB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9679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REPLACE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특정 문자열을 찾아 바꾼다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REPLACE(‘AB’, ‘A’, ‘E’)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EB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679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CONCAT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두 문자열을 연결</a:t>
                      </a:r>
                      <a:r>
                        <a:rPr lang="en-US" altLang="ko-KR" sz="1600" dirty="0" smtClean="0"/>
                        <a:t>(|| </a:t>
                      </a:r>
                      <a:r>
                        <a:rPr lang="ko-KR" altLang="en-US" sz="1600" dirty="0" smtClean="0"/>
                        <a:t>연산자와 같다</a:t>
                      </a:r>
                      <a:r>
                        <a:rPr lang="en-US" altLang="ko-KR" sz="1600" dirty="0" smtClean="0"/>
                        <a:t>)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CONCAT(‘A’, ‘B’)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AB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9679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LENGTH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문자열의 길이를 구한다</a:t>
                      </a:r>
                      <a:r>
                        <a:rPr lang="en-US" altLang="ko-KR" sz="1600" dirty="0" smtClean="0"/>
                        <a:t>.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LENGTH(‘AB’)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2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9679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INSTR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명명된 문자의 위치를 구한다</a:t>
                      </a:r>
                      <a:r>
                        <a:rPr lang="en-US" altLang="ko-KR" sz="1600" dirty="0" smtClean="0"/>
                        <a:t>.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INSTR(‘ABCD’, ‘D’)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4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9679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LPAD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왼쪽부터 특정문자로 자리를 채움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LPAD(‘ABCD’, 6, ‘*’)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**ABCD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9679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RPAD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오른쪽부터 특정문자로 자리를 채움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RPAD(‘ABCD’, 6, ‘*’)</a:t>
                      </a:r>
                      <a:endParaRPr lang="ko-KR" altLang="en-US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ABCD**</a:t>
                      </a:r>
                      <a:endParaRPr lang="ko-KR" altLang="en-US" sz="1600" dirty="0" smtClean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582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  </a:t>
            </a:r>
            <a:r>
              <a:rPr lang="ko-KR" altLang="en-US" dirty="0" smtClean="0"/>
              <a:t>문자타</a:t>
            </a:r>
            <a:r>
              <a:rPr lang="ko-KR" altLang="en-US" dirty="0"/>
              <a:t>입</a:t>
            </a:r>
            <a:r>
              <a:rPr lang="ko-KR" altLang="en-US" dirty="0" smtClean="0"/>
              <a:t> 함수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12" name="내용 개체 틀 2"/>
          <p:cNvSpPr txBox="1">
            <a:spLocks/>
          </p:cNvSpPr>
          <p:nvPr/>
        </p:nvSpPr>
        <p:spPr>
          <a:xfrm>
            <a:off x="467544" y="1052736"/>
            <a:ext cx="2160240" cy="504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dirty="0"/>
              <a:t> </a:t>
            </a:r>
            <a:r>
              <a:rPr lang="ko-KR" altLang="en-US" sz="2000" b="1" dirty="0" smtClean="0"/>
              <a:t>문자 타입 함수</a:t>
            </a:r>
            <a:endParaRPr lang="en-US" altLang="ko-KR" sz="1800" dirty="0" smtClean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640" y="1778698"/>
            <a:ext cx="4549534" cy="3596952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184" y="4581128"/>
            <a:ext cx="1653683" cy="457240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150128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  </a:t>
            </a:r>
            <a:r>
              <a:rPr lang="ko-KR" altLang="en-US" dirty="0" smtClean="0"/>
              <a:t>문자타</a:t>
            </a:r>
            <a:r>
              <a:rPr lang="ko-KR" altLang="en-US" dirty="0"/>
              <a:t>입</a:t>
            </a:r>
            <a:r>
              <a:rPr lang="ko-KR" altLang="en-US" dirty="0" smtClean="0"/>
              <a:t> 함수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12" name="내용 개체 틀 2"/>
          <p:cNvSpPr txBox="1">
            <a:spLocks/>
          </p:cNvSpPr>
          <p:nvPr/>
        </p:nvSpPr>
        <p:spPr>
          <a:xfrm>
            <a:off x="467544" y="1052736"/>
            <a:ext cx="2160240" cy="504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dirty="0"/>
              <a:t> </a:t>
            </a:r>
            <a:r>
              <a:rPr lang="ko-KR" altLang="en-US" sz="2000" b="1" dirty="0" smtClean="0"/>
              <a:t>문자 타입 함수</a:t>
            </a:r>
            <a:endParaRPr lang="en-US" altLang="ko-KR" sz="1800" dirty="0" smtClean="0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584" y="1869469"/>
            <a:ext cx="5655231" cy="1034493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5911" y="2179999"/>
            <a:ext cx="670618" cy="723963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92" y="3357477"/>
            <a:ext cx="5175252" cy="153214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6481"/>
          <a:stretch/>
        </p:blipFill>
        <p:spPr>
          <a:xfrm>
            <a:off x="5601005" y="5085184"/>
            <a:ext cx="2571395" cy="937123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143780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  </a:t>
            </a:r>
            <a:r>
              <a:rPr lang="ko-KR" altLang="en-US" dirty="0" smtClean="0"/>
              <a:t>문자타</a:t>
            </a:r>
            <a:r>
              <a:rPr lang="ko-KR" altLang="en-US" dirty="0"/>
              <a:t>입</a:t>
            </a:r>
            <a:r>
              <a:rPr lang="ko-KR" altLang="en-US" dirty="0" smtClean="0"/>
              <a:t> 함수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10</a:t>
            </a:fld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8208" y="3776299"/>
            <a:ext cx="5159187" cy="166892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7362" y="4064331"/>
            <a:ext cx="944962" cy="1303133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4760" y="1563491"/>
            <a:ext cx="5875529" cy="1486029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618482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  </a:t>
            </a:r>
            <a:r>
              <a:rPr lang="ko-KR" altLang="en-US" dirty="0" err="1" smtClean="0"/>
              <a:t>단일행</a:t>
            </a:r>
            <a:r>
              <a:rPr lang="ko-KR" altLang="en-US" dirty="0" smtClean="0"/>
              <a:t> 함수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12" name="내용 개체 틀 2"/>
          <p:cNvSpPr txBox="1">
            <a:spLocks/>
          </p:cNvSpPr>
          <p:nvPr/>
        </p:nvSpPr>
        <p:spPr>
          <a:xfrm>
            <a:off x="611560" y="980728"/>
            <a:ext cx="2160240" cy="504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dirty="0"/>
              <a:t> </a:t>
            </a:r>
            <a:r>
              <a:rPr lang="ko-KR" altLang="en-US" sz="2000" b="1" dirty="0" smtClean="0"/>
              <a:t>날짜 연산 규칙</a:t>
            </a:r>
            <a:endParaRPr lang="en-US" altLang="ko-KR" sz="1800" dirty="0" smtClean="0"/>
          </a:p>
        </p:txBody>
      </p:sp>
      <p:graphicFrame>
        <p:nvGraphicFramePr>
          <p:cNvPr id="6" name="내용 개체 틀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2234074"/>
              </p:ext>
            </p:extLst>
          </p:nvPr>
        </p:nvGraphicFramePr>
        <p:xfrm>
          <a:off x="755576" y="1556792"/>
          <a:ext cx="6912768" cy="1656184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252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963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40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/>
                        <a:t>함수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/>
                        <a:t>설명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 smtClean="0"/>
                        <a:t>반환값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Date</a:t>
                      </a:r>
                      <a:r>
                        <a:rPr lang="en-US" altLang="ko-KR" sz="1600" baseline="0" dirty="0" smtClean="0"/>
                        <a:t> + Number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날짜에서 일수를 더한다</a:t>
                      </a:r>
                      <a:r>
                        <a:rPr lang="en-US" altLang="ko-KR" sz="1600" dirty="0" smtClean="0"/>
                        <a:t>.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Date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Date</a:t>
                      </a:r>
                      <a:r>
                        <a:rPr lang="en-US" altLang="ko-KR" sz="1600" baseline="0" dirty="0" smtClean="0"/>
                        <a:t> - Number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날짜에서 일수를 뺀다</a:t>
                      </a:r>
                      <a:r>
                        <a:rPr lang="en-US" altLang="ko-KR" sz="1600" dirty="0" smtClean="0"/>
                        <a:t>.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Date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Date</a:t>
                      </a:r>
                      <a:r>
                        <a:rPr lang="en-US" altLang="ko-KR" sz="1600" baseline="0" dirty="0" smtClean="0"/>
                        <a:t> – Date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 smtClean="0"/>
                        <a:t> 날짜에서 날짜를 뺀다</a:t>
                      </a:r>
                      <a:r>
                        <a:rPr lang="en-US" altLang="ko-KR" sz="1600" dirty="0" smtClean="0"/>
                        <a:t>.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일수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내용 개체 틀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7320480"/>
              </p:ext>
            </p:extLst>
          </p:nvPr>
        </p:nvGraphicFramePr>
        <p:xfrm>
          <a:off x="755576" y="3861048"/>
          <a:ext cx="7992888" cy="2130348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216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43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0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/>
                        <a:t>함수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/>
                        <a:t>설명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/>
                        <a:t>예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MONTH_BETWEEN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두 날짜 사이의 월수를 계산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MONTH_BETWEEN(SYSDATE, HIRE_DATE)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ADD_MONTHS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월을 날짜에 더한다</a:t>
                      </a:r>
                      <a:r>
                        <a:rPr lang="en-US" altLang="ko-KR" sz="1600" dirty="0" smtClean="0"/>
                        <a:t>.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ADD_MONTHS(HIRE_DATE, 5)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NEXT_DAY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aseline="0" dirty="0" smtClean="0"/>
                        <a:t> </a:t>
                      </a:r>
                      <a:r>
                        <a:rPr lang="ko-KR" altLang="en-US" sz="1600" baseline="0" dirty="0" smtClean="0"/>
                        <a:t>명시된 날짜부터 돌아오는 요일의 날짜를 출력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NEXT_DAY(HIRE_DATE, 1)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내용 개체 틀 2"/>
          <p:cNvSpPr txBox="1">
            <a:spLocks/>
          </p:cNvSpPr>
          <p:nvPr/>
        </p:nvSpPr>
        <p:spPr>
          <a:xfrm>
            <a:off x="611560" y="3284984"/>
            <a:ext cx="2160240" cy="504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dirty="0"/>
              <a:t> </a:t>
            </a:r>
            <a:r>
              <a:rPr lang="ko-KR" altLang="en-US" sz="2000" b="1" dirty="0" smtClean="0"/>
              <a:t>날짜 함</a:t>
            </a:r>
            <a:r>
              <a:rPr lang="ko-KR" altLang="en-US" sz="2000" b="1" dirty="0"/>
              <a:t>수</a:t>
            </a:r>
            <a:endParaRPr lang="en-US" altLang="ko-KR" sz="1800" dirty="0" smtClean="0"/>
          </a:p>
        </p:txBody>
      </p:sp>
    </p:spTree>
    <p:extLst>
      <p:ext uri="{BB962C8B-B14F-4D97-AF65-F5344CB8AC3E}">
        <p14:creationId xmlns:p14="http://schemas.microsoft.com/office/powerpoint/2010/main" val="1748938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  </a:t>
            </a:r>
            <a:r>
              <a:rPr lang="ko-KR" altLang="en-US" dirty="0" smtClean="0"/>
              <a:t>날</a:t>
            </a:r>
            <a:r>
              <a:rPr lang="ko-KR" altLang="en-US" dirty="0"/>
              <a:t>짜</a:t>
            </a:r>
            <a:r>
              <a:rPr lang="ko-KR" altLang="en-US" dirty="0" smtClean="0"/>
              <a:t> 함수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256" y="1556792"/>
            <a:ext cx="6325552" cy="1680590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104" y="2924944"/>
            <a:ext cx="2385267" cy="223285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002350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  </a:t>
            </a:r>
            <a:r>
              <a:rPr lang="ko-KR" altLang="en-US" dirty="0" smtClean="0"/>
              <a:t>날</a:t>
            </a:r>
            <a:r>
              <a:rPr lang="ko-KR" altLang="en-US" dirty="0"/>
              <a:t>짜</a:t>
            </a:r>
            <a:r>
              <a:rPr lang="ko-KR" altLang="en-US" dirty="0" smtClean="0"/>
              <a:t> 함수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712" y="3452178"/>
            <a:ext cx="6720240" cy="158417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3204" y="5324386"/>
            <a:ext cx="3040644" cy="62489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712" y="1196752"/>
            <a:ext cx="5906012" cy="1638442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7930" y="1844824"/>
            <a:ext cx="3154954" cy="124216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585962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  </a:t>
            </a:r>
            <a:r>
              <a:rPr lang="ko-KR" altLang="en-US" dirty="0" err="1" smtClean="0"/>
              <a:t>단일행</a:t>
            </a:r>
            <a:r>
              <a:rPr lang="ko-KR" altLang="en-US" dirty="0" smtClean="0"/>
              <a:t> 함수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12" name="내용 개체 틀 2"/>
          <p:cNvSpPr txBox="1">
            <a:spLocks/>
          </p:cNvSpPr>
          <p:nvPr/>
        </p:nvSpPr>
        <p:spPr>
          <a:xfrm>
            <a:off x="467544" y="908720"/>
            <a:ext cx="2160240" cy="504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dirty="0"/>
              <a:t> </a:t>
            </a:r>
            <a:r>
              <a:rPr lang="en-US" altLang="ko-KR" sz="1800" dirty="0" smtClean="0"/>
              <a:t>  </a:t>
            </a:r>
            <a:r>
              <a:rPr lang="ko-KR" altLang="en-US" sz="2000" b="1" dirty="0" smtClean="0"/>
              <a:t>변환 함수</a:t>
            </a:r>
            <a:endParaRPr lang="en-US" altLang="ko-KR" sz="1800" dirty="0" smtClean="0"/>
          </a:p>
        </p:txBody>
      </p:sp>
      <p:graphicFrame>
        <p:nvGraphicFramePr>
          <p:cNvPr id="6" name="내용 개체 틀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76929359"/>
              </p:ext>
            </p:extLst>
          </p:nvPr>
        </p:nvGraphicFramePr>
        <p:xfrm>
          <a:off x="863588" y="2060848"/>
          <a:ext cx="4680520" cy="172819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26642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56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/>
                        <a:t>FROM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/>
                        <a:t>TO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638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VARCHAR2</a:t>
                      </a:r>
                      <a:r>
                        <a:rPr lang="en-US" altLang="ko-KR" sz="1600" baseline="0" dirty="0" smtClean="0"/>
                        <a:t> </a:t>
                      </a:r>
                      <a:r>
                        <a:rPr lang="ko-KR" altLang="en-US" sz="1600" baseline="0" dirty="0" smtClean="0"/>
                        <a:t>또는 </a:t>
                      </a:r>
                      <a:r>
                        <a:rPr lang="en-US" altLang="ko-KR" sz="1600" baseline="0" dirty="0" smtClean="0"/>
                        <a:t>CHAR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NUMBER(</a:t>
                      </a:r>
                      <a:r>
                        <a:rPr lang="ko-KR" altLang="en-US" sz="1600" dirty="0" smtClean="0"/>
                        <a:t>숫자</a:t>
                      </a:r>
                      <a:r>
                        <a:rPr lang="en-US" altLang="ko-KR" sz="1600" dirty="0" smtClean="0"/>
                        <a:t>)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563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VARCHAR2</a:t>
                      </a:r>
                      <a:r>
                        <a:rPr lang="en-US" altLang="ko-KR" sz="1600" baseline="0" dirty="0" smtClean="0"/>
                        <a:t> </a:t>
                      </a:r>
                      <a:r>
                        <a:rPr lang="ko-KR" altLang="en-US" sz="1600" baseline="0" dirty="0" smtClean="0"/>
                        <a:t>또는 </a:t>
                      </a:r>
                      <a:r>
                        <a:rPr lang="en-US" altLang="ko-KR" sz="1600" baseline="0" dirty="0" smtClean="0"/>
                        <a:t>CHAR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DATE(</a:t>
                      </a:r>
                      <a:r>
                        <a:rPr lang="ko-KR" altLang="en-US" sz="1600" dirty="0" smtClean="0"/>
                        <a:t>날짜</a:t>
                      </a:r>
                      <a:r>
                        <a:rPr lang="en-US" altLang="ko-KR" sz="1600" dirty="0" smtClean="0"/>
                        <a:t>)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563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NUMBER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VARCHAR2(</a:t>
                      </a:r>
                      <a:r>
                        <a:rPr lang="ko-KR" altLang="en-US" sz="1600" dirty="0" smtClean="0"/>
                        <a:t>문자</a:t>
                      </a:r>
                      <a:r>
                        <a:rPr lang="en-US" altLang="ko-KR" sz="1600" dirty="0" smtClean="0"/>
                        <a:t>)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563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DATE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VARCHAR2(</a:t>
                      </a:r>
                      <a:r>
                        <a:rPr lang="ko-KR" altLang="en-US" sz="1600" dirty="0" smtClean="0"/>
                        <a:t>문자</a:t>
                      </a:r>
                      <a:r>
                        <a:rPr lang="en-US" altLang="ko-KR" sz="1600" dirty="0" smtClean="0"/>
                        <a:t>)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내용 개체 틀 2"/>
          <p:cNvSpPr txBox="1">
            <a:spLocks/>
          </p:cNvSpPr>
          <p:nvPr/>
        </p:nvSpPr>
        <p:spPr>
          <a:xfrm>
            <a:off x="683568" y="1412776"/>
            <a:ext cx="3960440" cy="504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dirty="0"/>
              <a:t> </a:t>
            </a:r>
            <a:r>
              <a:rPr lang="ko-KR" altLang="en-US" sz="2000" b="1" dirty="0" smtClean="0"/>
              <a:t>자동 데이터 타입 변환</a:t>
            </a:r>
            <a:endParaRPr lang="en-US" altLang="ko-KR" sz="1800" dirty="0" smtClean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9832" y="4221087"/>
            <a:ext cx="2138940" cy="1049291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6136" y="4776298"/>
            <a:ext cx="1038972" cy="43204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745001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  </a:t>
            </a:r>
            <a:r>
              <a:rPr lang="ko-KR" altLang="en-US" dirty="0" err="1" smtClean="0"/>
              <a:t>단일행</a:t>
            </a:r>
            <a:r>
              <a:rPr lang="ko-KR" altLang="en-US" dirty="0" smtClean="0"/>
              <a:t> 함수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12" name="내용 개체 틀 2"/>
          <p:cNvSpPr txBox="1">
            <a:spLocks/>
          </p:cNvSpPr>
          <p:nvPr/>
        </p:nvSpPr>
        <p:spPr>
          <a:xfrm>
            <a:off x="467544" y="1052736"/>
            <a:ext cx="2160240" cy="504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dirty="0"/>
              <a:t> </a:t>
            </a:r>
            <a:r>
              <a:rPr lang="en-US" altLang="ko-KR" sz="1800" dirty="0" smtClean="0"/>
              <a:t>  </a:t>
            </a:r>
            <a:r>
              <a:rPr lang="ko-KR" altLang="en-US" sz="2000" b="1" dirty="0" smtClean="0"/>
              <a:t>변환 함수</a:t>
            </a:r>
            <a:endParaRPr lang="en-US" altLang="ko-KR" sz="1800" dirty="0" smtClean="0"/>
          </a:p>
        </p:txBody>
      </p:sp>
      <p:graphicFrame>
        <p:nvGraphicFramePr>
          <p:cNvPr id="6" name="내용 개체 틀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8712075"/>
              </p:ext>
            </p:extLst>
          </p:nvPr>
        </p:nvGraphicFramePr>
        <p:xfrm>
          <a:off x="755576" y="2132856"/>
          <a:ext cx="7344816" cy="197067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24482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5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3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/>
                        <a:t>FROM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/>
                        <a:t>TO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385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TO_CHAR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숫자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문자</a:t>
                      </a:r>
                      <a:r>
                        <a:rPr lang="en-US" altLang="ko-KR" sz="1600" dirty="0" smtClean="0"/>
                        <a:t>,</a:t>
                      </a:r>
                      <a:r>
                        <a:rPr lang="ko-KR" altLang="en-US" sz="1600" dirty="0" smtClean="0"/>
                        <a:t>날짜 값을 형식을 </a:t>
                      </a:r>
                      <a:r>
                        <a:rPr lang="en-US" altLang="ko-KR" sz="1600" dirty="0" smtClean="0"/>
                        <a:t>VARCHAR2</a:t>
                      </a:r>
                      <a:r>
                        <a:rPr lang="ko-KR" altLang="en-US" sz="1600" dirty="0" smtClean="0"/>
                        <a:t>로 변환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385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TO_NUMBER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문자를 숫자 타입으로 변환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66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TO_DATE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날짜를 나타내는 문자열을 지정 형식의 날짜 타입</a:t>
                      </a:r>
                      <a:endParaRPr lang="en-US" altLang="ko-KR" sz="1600" dirty="0" smtClean="0"/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으로  변환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내용 개체 틀 2"/>
          <p:cNvSpPr txBox="1">
            <a:spLocks/>
          </p:cNvSpPr>
          <p:nvPr/>
        </p:nvSpPr>
        <p:spPr>
          <a:xfrm>
            <a:off x="611560" y="1556792"/>
            <a:ext cx="3960440" cy="504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/>
              <a:t> </a:t>
            </a:r>
            <a:r>
              <a:rPr lang="ko-KR" altLang="en-US" sz="2000" b="1" dirty="0" smtClean="0"/>
              <a:t>수</a:t>
            </a:r>
            <a:r>
              <a:rPr lang="ko-KR" altLang="en-US" sz="2000" b="1" dirty="0"/>
              <a:t>동</a:t>
            </a:r>
            <a:r>
              <a:rPr lang="ko-KR" altLang="en-US" sz="2000" b="1" dirty="0" smtClean="0"/>
              <a:t> 데이터 타입 변환</a:t>
            </a:r>
            <a:endParaRPr lang="en-US" altLang="ko-KR" sz="1800" dirty="0" smtClean="0"/>
          </a:p>
        </p:txBody>
      </p:sp>
    </p:spTree>
    <p:extLst>
      <p:ext uri="{BB962C8B-B14F-4D97-AF65-F5344CB8AC3E}">
        <p14:creationId xmlns:p14="http://schemas.microsoft.com/office/powerpoint/2010/main" val="4066797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  </a:t>
            </a:r>
            <a:r>
              <a:rPr lang="ko-KR" altLang="en-US" dirty="0" err="1" smtClean="0"/>
              <a:t>단일행</a:t>
            </a:r>
            <a:r>
              <a:rPr lang="ko-KR" altLang="en-US" dirty="0" smtClean="0"/>
              <a:t> 함수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16</a:t>
            </a:fld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969" y="1556792"/>
            <a:ext cx="2890999" cy="1018092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401" y="1916832"/>
            <a:ext cx="1730653" cy="46454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0906" y="3140968"/>
            <a:ext cx="6133422" cy="119676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6015" y="4653136"/>
            <a:ext cx="2808313" cy="45677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819816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  </a:t>
            </a:r>
            <a:r>
              <a:rPr lang="ko-KR" altLang="en-US" dirty="0" err="1" smtClean="0"/>
              <a:t>단일행</a:t>
            </a:r>
            <a:r>
              <a:rPr lang="ko-KR" altLang="en-US" dirty="0" smtClean="0"/>
              <a:t> 함수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17</a:t>
            </a:fld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278" y="4215554"/>
            <a:ext cx="6162934" cy="1129871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4282" y="5538853"/>
            <a:ext cx="2834886" cy="495343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641" y="1358705"/>
            <a:ext cx="4381880" cy="2415749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653457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 smtClean="0"/>
              <a:t>  </a:t>
            </a:r>
            <a:r>
              <a:rPr lang="ko-KR" altLang="en-US" sz="2800" b="1" dirty="0" smtClean="0"/>
              <a:t>일반 함수 </a:t>
            </a:r>
            <a:r>
              <a:rPr lang="en-US" altLang="ko-KR" sz="2800" b="1" dirty="0" smtClean="0"/>
              <a:t>– NVL() </a:t>
            </a:r>
            <a:r>
              <a:rPr lang="ko-KR" altLang="en-US" sz="2800" b="1" dirty="0" smtClean="0"/>
              <a:t>함수</a:t>
            </a:r>
            <a:endParaRPr lang="ko-KR" altLang="en-US" sz="2800" b="1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827584" y="1052736"/>
            <a:ext cx="38164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smtClean="0"/>
              <a:t>NVL </a:t>
            </a:r>
            <a:r>
              <a:rPr lang="ko-KR" altLang="en-US" sz="2000" b="1" dirty="0" smtClean="0"/>
              <a:t>함수 </a:t>
            </a:r>
            <a:r>
              <a:rPr lang="en-US" altLang="ko-KR" sz="2000" b="1" dirty="0" smtClean="0"/>
              <a:t>– NULL </a:t>
            </a:r>
            <a:r>
              <a:rPr lang="ko-KR" altLang="en-US" sz="2000" b="1" dirty="0" smtClean="0"/>
              <a:t>값 처리하기</a:t>
            </a:r>
            <a:endParaRPr lang="ko-KR" altLang="en-US" sz="2000" b="1" dirty="0"/>
          </a:p>
        </p:txBody>
      </p:sp>
      <p:sp>
        <p:nvSpPr>
          <p:cNvPr id="9" name="TextBox 8"/>
          <p:cNvSpPr txBox="1"/>
          <p:nvPr/>
        </p:nvSpPr>
        <p:spPr>
          <a:xfrm>
            <a:off x="795332" y="1484784"/>
            <a:ext cx="788112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NULL</a:t>
            </a:r>
            <a:r>
              <a:rPr lang="ko-KR" altLang="en-US" sz="1600" dirty="0"/>
              <a:t>값이란 아직 지정되지 않은 값을 말한다</a:t>
            </a:r>
            <a:r>
              <a:rPr lang="en-US" altLang="ko-KR" sz="1600" dirty="0"/>
              <a:t>. </a:t>
            </a:r>
            <a:r>
              <a:rPr lang="ko-KR" altLang="en-US" sz="1600" dirty="0" smtClean="0"/>
              <a:t>지정되지 </a:t>
            </a:r>
            <a:r>
              <a:rPr lang="ko-KR" altLang="en-US" sz="1600" dirty="0"/>
              <a:t>않았다는 것은 값을 </a:t>
            </a:r>
            <a:r>
              <a:rPr lang="ko-KR" altLang="en-US" sz="1600" dirty="0" err="1"/>
              <a:t>알수도</a:t>
            </a:r>
            <a:r>
              <a:rPr lang="ko-KR" altLang="en-US" sz="1600" dirty="0"/>
              <a:t> 없고 적용할 수도 없다는 뜻이다</a:t>
            </a:r>
            <a:r>
              <a:rPr lang="en-US" altLang="ko-KR" sz="1600" dirty="0" smtClean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600" dirty="0" smtClean="0"/>
              <a:t>특정 열의 행에 대한 데이터 값이 없다면 데이터 값은 </a:t>
            </a:r>
            <a:r>
              <a:rPr lang="en-US" altLang="ko-KR" sz="1600" dirty="0" smtClean="0"/>
              <a:t>null</a:t>
            </a:r>
            <a:r>
              <a:rPr lang="ko-KR" altLang="en-US" sz="1600" dirty="0" smtClean="0"/>
              <a:t>이 된다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테이블을 정의할 때 </a:t>
            </a:r>
            <a:r>
              <a:rPr lang="en-US" altLang="ko-KR" sz="1600" dirty="0" smtClean="0"/>
              <a:t>NOT NULL</a:t>
            </a:r>
            <a:r>
              <a:rPr lang="ko-KR" altLang="en-US" sz="1600" dirty="0" smtClean="0"/>
              <a:t>을 지정하면 </a:t>
            </a:r>
            <a:r>
              <a:rPr lang="en-US" altLang="ko-KR" sz="1600" dirty="0" smtClean="0"/>
              <a:t>null </a:t>
            </a:r>
            <a:r>
              <a:rPr lang="ko-KR" altLang="en-US" sz="1600" dirty="0" smtClean="0"/>
              <a:t>값을 가질 수 없다</a:t>
            </a:r>
            <a:r>
              <a:rPr lang="en-US" altLang="ko-KR" sz="1600" dirty="0" smtClean="0"/>
              <a:t>.</a:t>
            </a:r>
          </a:p>
        </p:txBody>
      </p:sp>
      <p:sp>
        <p:nvSpPr>
          <p:cNvPr id="10" name="내용 개체 틀 2"/>
          <p:cNvSpPr txBox="1">
            <a:spLocks/>
          </p:cNvSpPr>
          <p:nvPr/>
        </p:nvSpPr>
        <p:spPr>
          <a:xfrm>
            <a:off x="861616" y="3462099"/>
            <a:ext cx="2736304" cy="5074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b="1" dirty="0" smtClean="0"/>
              <a:t>NVL (</a:t>
            </a:r>
            <a:r>
              <a:rPr lang="ko-KR" altLang="en-US" sz="1800" b="1" dirty="0" smtClean="0"/>
              <a:t>인수</a:t>
            </a:r>
            <a:r>
              <a:rPr lang="en-US" altLang="ko-KR" sz="1800" b="1" dirty="0" smtClean="0"/>
              <a:t>1, </a:t>
            </a:r>
            <a:r>
              <a:rPr lang="ko-KR" altLang="en-US" sz="1800" b="1" dirty="0" smtClean="0"/>
              <a:t>인수</a:t>
            </a:r>
            <a:r>
              <a:rPr lang="en-US" altLang="ko-KR" sz="1800" b="1" dirty="0" smtClean="0"/>
              <a:t>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332" y="4110171"/>
            <a:ext cx="7881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smtClean="0"/>
              <a:t>인수</a:t>
            </a:r>
            <a:r>
              <a:rPr lang="en-US" altLang="ko-KR" sz="1600" dirty="0" smtClean="0"/>
              <a:t>1</a:t>
            </a:r>
            <a:r>
              <a:rPr lang="ko-KR" altLang="en-US" sz="1600" dirty="0" smtClean="0"/>
              <a:t>의 값이 </a:t>
            </a:r>
            <a:r>
              <a:rPr lang="en-US" altLang="ko-KR" sz="1600" dirty="0" smtClean="0"/>
              <a:t>NULL</a:t>
            </a:r>
            <a:r>
              <a:rPr lang="ko-KR" altLang="en-US" sz="1600" dirty="0" smtClean="0"/>
              <a:t>일 경우 인수</a:t>
            </a:r>
            <a:r>
              <a:rPr lang="en-US" altLang="ko-KR" sz="1600" dirty="0" smtClean="0"/>
              <a:t>2</a:t>
            </a:r>
            <a:r>
              <a:rPr lang="ko-KR" altLang="en-US" sz="1600" dirty="0" smtClean="0"/>
              <a:t>를 반환하고 </a:t>
            </a:r>
            <a:r>
              <a:rPr lang="en-US" altLang="ko-KR" sz="1600" dirty="0" smtClean="0"/>
              <a:t>NULL</a:t>
            </a:r>
            <a:r>
              <a:rPr lang="ko-KR" altLang="en-US" sz="1600" dirty="0" smtClean="0"/>
              <a:t>이 아닌 경우 인수</a:t>
            </a:r>
            <a:r>
              <a:rPr lang="en-US" altLang="ko-KR" sz="1600" dirty="0" smtClean="0"/>
              <a:t>1</a:t>
            </a:r>
            <a:r>
              <a:rPr lang="ko-KR" altLang="en-US" sz="1600" dirty="0" smtClean="0"/>
              <a:t>을 반환해 주는 함수</a:t>
            </a:r>
            <a:endParaRPr lang="en-US" altLang="ko-KR" sz="1600" dirty="0" smtClean="0"/>
          </a:p>
        </p:txBody>
      </p:sp>
    </p:spTree>
    <p:extLst>
      <p:ext uri="{BB962C8B-B14F-4D97-AF65-F5344CB8AC3E}">
        <p14:creationId xmlns:p14="http://schemas.microsoft.com/office/powerpoint/2010/main" val="1571068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827584" y="1052736"/>
            <a:ext cx="38164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smtClean="0"/>
              <a:t>NVL </a:t>
            </a:r>
            <a:r>
              <a:rPr lang="ko-KR" altLang="en-US" sz="2000" b="1" dirty="0" smtClean="0"/>
              <a:t>함수 </a:t>
            </a:r>
            <a:r>
              <a:rPr lang="en-US" altLang="ko-KR" sz="2000" b="1" dirty="0" smtClean="0"/>
              <a:t>– NULL </a:t>
            </a:r>
            <a:r>
              <a:rPr lang="ko-KR" altLang="en-US" sz="2000" b="1" dirty="0" smtClean="0"/>
              <a:t>값 처리하기</a:t>
            </a:r>
            <a:endParaRPr lang="ko-KR" altLang="en-US" sz="2000" b="1" dirty="0"/>
          </a:p>
        </p:txBody>
      </p:sp>
      <p:sp>
        <p:nvSpPr>
          <p:cNvPr id="10" name="제목 1"/>
          <p:cNvSpPr>
            <a:spLocks noGrp="1"/>
          </p:cNvSpPr>
          <p:nvPr>
            <p:ph type="title"/>
          </p:nvPr>
        </p:nvSpPr>
        <p:spPr>
          <a:xfrm>
            <a:off x="1" y="-18256"/>
            <a:ext cx="5724128" cy="854968"/>
          </a:xfrm>
        </p:spPr>
        <p:txBody>
          <a:bodyPr>
            <a:normAutofit/>
          </a:bodyPr>
          <a:lstStyle/>
          <a:p>
            <a:r>
              <a:rPr lang="en-US" altLang="ko-KR" sz="2800" dirty="0" smtClean="0"/>
              <a:t>  </a:t>
            </a:r>
            <a:r>
              <a:rPr lang="ko-KR" altLang="en-US" sz="2800" b="1" dirty="0" smtClean="0"/>
              <a:t>일반 함수 </a:t>
            </a:r>
            <a:r>
              <a:rPr lang="en-US" altLang="ko-KR" sz="2800" b="1" dirty="0" smtClean="0"/>
              <a:t>– NVL() </a:t>
            </a:r>
            <a:r>
              <a:rPr lang="ko-KR" altLang="en-US" sz="2800" b="1" dirty="0" smtClean="0"/>
              <a:t>함수</a:t>
            </a:r>
            <a:endParaRPr lang="ko-KR" altLang="en-US" sz="2800" b="1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640" y="1772816"/>
            <a:ext cx="4346354" cy="410445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213251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 그룹 함수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12" name="내용 개체 틀 2"/>
          <p:cNvSpPr txBox="1">
            <a:spLocks/>
          </p:cNvSpPr>
          <p:nvPr/>
        </p:nvSpPr>
        <p:spPr>
          <a:xfrm>
            <a:off x="549896" y="1196752"/>
            <a:ext cx="7910536" cy="15121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dirty="0"/>
              <a:t> </a:t>
            </a:r>
            <a:r>
              <a:rPr lang="ko-KR" altLang="en-US" sz="2000" b="1" dirty="0" smtClean="0"/>
              <a:t>그룹 함수 </a:t>
            </a:r>
            <a:endParaRPr lang="en-US" altLang="ko-KR" sz="2000" b="1" dirty="0" smtClean="0"/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dirty="0" smtClean="0"/>
              <a:t>   – </a:t>
            </a:r>
            <a:r>
              <a:rPr lang="ko-KR" altLang="en-US" sz="1800" dirty="0" smtClean="0"/>
              <a:t>단일 행 함수와 달리 여러 행에 대해 함수가 적용되어 하나의 </a:t>
            </a:r>
            <a:r>
              <a:rPr lang="ko-KR" altLang="en-US" sz="1800" dirty="0" smtClean="0"/>
              <a:t>결과를 </a:t>
            </a:r>
            <a:endParaRPr lang="en-US" altLang="ko-KR" sz="1800" dirty="0" smtClean="0"/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dirty="0"/>
              <a:t> </a:t>
            </a:r>
            <a:r>
              <a:rPr lang="en-US" altLang="ko-KR" sz="1800" dirty="0" smtClean="0"/>
              <a:t>     </a:t>
            </a:r>
            <a:r>
              <a:rPr lang="ko-KR" altLang="en-US" sz="1800" dirty="0" smtClean="0"/>
              <a:t>나타내는 </a:t>
            </a:r>
            <a:r>
              <a:rPr lang="ko-KR" altLang="en-US" sz="1800" dirty="0" smtClean="0"/>
              <a:t>함수</a:t>
            </a:r>
            <a:endParaRPr lang="en-US" altLang="ko-KR" sz="1800" dirty="0" smtClean="0"/>
          </a:p>
        </p:txBody>
      </p:sp>
      <p:graphicFrame>
        <p:nvGraphicFramePr>
          <p:cNvPr id="11" name="내용 개체 틀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96561342"/>
              </p:ext>
            </p:extLst>
          </p:nvPr>
        </p:nvGraphicFramePr>
        <p:xfrm>
          <a:off x="1691680" y="2852936"/>
          <a:ext cx="4409664" cy="2736306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558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11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605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u="none" dirty="0"/>
                        <a:t> 함수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 기능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0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SUM(</a:t>
                      </a:r>
                      <a:r>
                        <a:rPr lang="ko-KR" altLang="en-US" sz="1600" dirty="0"/>
                        <a:t>칼럼</a:t>
                      </a:r>
                      <a:r>
                        <a:rPr lang="en-US" altLang="ko-KR" sz="1600" baseline="0" dirty="0"/>
                        <a:t> 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/>
                        <a:t>합계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60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COUNT(*)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/>
                        <a:t>개수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0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AVG(</a:t>
                      </a:r>
                      <a:r>
                        <a:rPr lang="ko-KR" altLang="en-US" sz="1600" dirty="0"/>
                        <a:t>칼럼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/>
                        <a:t>평균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60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MAX(</a:t>
                      </a:r>
                      <a:r>
                        <a:rPr lang="ko-KR" altLang="en-US" sz="1600" dirty="0"/>
                        <a:t>칼럼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/>
                        <a:t>최대값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60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MIN(</a:t>
                      </a:r>
                      <a:r>
                        <a:rPr lang="ko-KR" altLang="en-US" sz="1600" dirty="0"/>
                        <a:t>칼럼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  </a:t>
                      </a:r>
                      <a:r>
                        <a:rPr lang="ko-KR" altLang="en-US" sz="1600" dirty="0"/>
                        <a:t>최소값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80116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 smtClean="0"/>
              <a:t> </a:t>
            </a:r>
            <a:r>
              <a:rPr lang="en-US" altLang="ko-KR" sz="2800" b="1" dirty="0" smtClean="0"/>
              <a:t>DECODE() </a:t>
            </a:r>
            <a:r>
              <a:rPr lang="ko-KR" altLang="en-US" sz="2800" b="1" dirty="0"/>
              <a:t>함수 </a:t>
            </a:r>
            <a:r>
              <a:rPr lang="en-US" altLang="ko-KR" sz="2800" b="1" dirty="0"/>
              <a:t>vs CASE </a:t>
            </a:r>
            <a:r>
              <a:rPr lang="ko-KR" altLang="en-US" sz="2800" b="1" dirty="0" err="1"/>
              <a:t>표현식</a:t>
            </a:r>
            <a:endParaRPr lang="ko-KR" altLang="en-US" sz="28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827584" y="1193356"/>
            <a:ext cx="38164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smtClean="0"/>
              <a:t>CASE WHEN </a:t>
            </a:r>
            <a:r>
              <a:rPr lang="ko-KR" altLang="en-US" sz="2000" b="1" dirty="0" err="1" smtClean="0"/>
              <a:t>표현식</a:t>
            </a:r>
            <a:endParaRPr lang="ko-KR" altLang="en-US" sz="2000" b="1" dirty="0"/>
          </a:p>
        </p:txBody>
      </p:sp>
      <p:sp>
        <p:nvSpPr>
          <p:cNvPr id="8" name="내용 개체 틀 2"/>
          <p:cNvSpPr txBox="1">
            <a:spLocks/>
          </p:cNvSpPr>
          <p:nvPr/>
        </p:nvSpPr>
        <p:spPr>
          <a:xfrm>
            <a:off x="1619672" y="1697412"/>
            <a:ext cx="4752528" cy="16595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dirty="0" smtClean="0"/>
              <a:t>CASE </a:t>
            </a: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dirty="0"/>
              <a:t>	</a:t>
            </a:r>
            <a:r>
              <a:rPr lang="en-US" altLang="ko-KR" sz="1800" dirty="0" smtClean="0"/>
              <a:t>WHEN </a:t>
            </a:r>
            <a:r>
              <a:rPr lang="ko-KR" altLang="en-US" sz="1800" dirty="0" smtClean="0"/>
              <a:t>조건 </a:t>
            </a:r>
            <a:r>
              <a:rPr lang="en-US" altLang="ko-KR" sz="1800" dirty="0" smtClean="0"/>
              <a:t>1 THEN </a:t>
            </a:r>
            <a:r>
              <a:rPr lang="ko-KR" altLang="en-US" sz="1800" dirty="0" smtClean="0"/>
              <a:t>출력 값</a:t>
            </a:r>
            <a:r>
              <a:rPr lang="en-US" altLang="ko-KR" sz="1800" dirty="0" smtClean="0"/>
              <a:t>1</a:t>
            </a:r>
            <a:endParaRPr lang="en-US" altLang="ko-KR" sz="1800" dirty="0"/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dirty="0" smtClean="0"/>
              <a:t>	ELSE </a:t>
            </a:r>
            <a:r>
              <a:rPr lang="ko-KR" altLang="en-US" sz="1800" dirty="0" err="1" smtClean="0"/>
              <a:t>출력값</a:t>
            </a:r>
            <a:r>
              <a:rPr lang="ko-KR" altLang="en-US" sz="1800" dirty="0" smtClean="0"/>
              <a:t> </a:t>
            </a:r>
            <a:r>
              <a:rPr lang="en-US" altLang="ko-KR" sz="1800" dirty="0"/>
              <a:t>2</a:t>
            </a:r>
            <a:endParaRPr lang="en-US" altLang="ko-KR" sz="1800" dirty="0" smtClean="0"/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dirty="0" smtClean="0"/>
              <a:t>END</a:t>
            </a: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altLang="ko-KR" sz="1800" dirty="0" smtClean="0"/>
          </a:p>
        </p:txBody>
      </p:sp>
      <p:sp>
        <p:nvSpPr>
          <p:cNvPr id="7" name="TextBox 6"/>
          <p:cNvSpPr txBox="1"/>
          <p:nvPr/>
        </p:nvSpPr>
        <p:spPr>
          <a:xfrm>
            <a:off x="827584" y="3924345"/>
            <a:ext cx="5400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smtClean="0"/>
              <a:t>DECODE </a:t>
            </a:r>
            <a:r>
              <a:rPr lang="ko-KR" altLang="en-US" sz="2000" b="1" dirty="0" smtClean="0"/>
              <a:t>함수 </a:t>
            </a:r>
            <a:r>
              <a:rPr lang="en-US" altLang="ko-KR" sz="2000" b="1" dirty="0" smtClean="0"/>
              <a:t>– (IF~THEN~ELSE)</a:t>
            </a:r>
            <a:endParaRPr lang="ko-KR" altLang="en-US" sz="2000" b="1" dirty="0"/>
          </a:p>
        </p:txBody>
      </p:sp>
      <p:sp>
        <p:nvSpPr>
          <p:cNvPr id="9" name="내용 개체 틀 2"/>
          <p:cNvSpPr txBox="1">
            <a:spLocks/>
          </p:cNvSpPr>
          <p:nvPr/>
        </p:nvSpPr>
        <p:spPr>
          <a:xfrm>
            <a:off x="1259632" y="4497013"/>
            <a:ext cx="4824536" cy="5074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b="1" dirty="0" smtClean="0"/>
              <a:t>DECODE (</a:t>
            </a:r>
            <a:r>
              <a:rPr lang="ko-KR" altLang="en-US" sz="1800" b="1" dirty="0" err="1" smtClean="0"/>
              <a:t>열이름</a:t>
            </a:r>
            <a:r>
              <a:rPr lang="en-US" altLang="ko-KR" sz="1800" b="1" dirty="0" smtClean="0"/>
              <a:t>, </a:t>
            </a:r>
            <a:r>
              <a:rPr lang="ko-KR" altLang="en-US" sz="1800" b="1" dirty="0" smtClean="0"/>
              <a:t>조건 값</a:t>
            </a:r>
            <a:r>
              <a:rPr lang="en-US" altLang="ko-KR" sz="1800" b="1" dirty="0" smtClean="0"/>
              <a:t>, </a:t>
            </a:r>
            <a:r>
              <a:rPr lang="ko-KR" altLang="en-US" sz="1800" b="1" dirty="0" smtClean="0">
                <a:solidFill>
                  <a:srgbClr val="C00000"/>
                </a:solidFill>
              </a:rPr>
              <a:t>변경 값</a:t>
            </a:r>
            <a:r>
              <a:rPr lang="en-US" altLang="ko-KR" sz="1800" b="1" dirty="0" smtClean="0"/>
              <a:t>, </a:t>
            </a:r>
            <a:r>
              <a:rPr lang="ko-KR" altLang="en-US" sz="1800" b="1" dirty="0" smtClean="0"/>
              <a:t>기본값</a:t>
            </a:r>
            <a:r>
              <a:rPr lang="en-US" altLang="ko-KR" sz="1800" b="1" dirty="0" smtClean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13827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 smtClean="0"/>
              <a:t>  </a:t>
            </a:r>
            <a:r>
              <a:rPr lang="en-US" altLang="ko-KR" sz="2800" b="1" dirty="0"/>
              <a:t>DECODE </a:t>
            </a:r>
            <a:r>
              <a:rPr lang="ko-KR" altLang="en-US" sz="2800" b="1" dirty="0" smtClean="0"/>
              <a:t>함수</a:t>
            </a:r>
            <a:r>
              <a:rPr lang="en-US" altLang="ko-KR" sz="2800" b="1" dirty="0" smtClean="0"/>
              <a:t>()</a:t>
            </a:r>
            <a:r>
              <a:rPr lang="ko-KR" altLang="en-US" sz="2800" b="1" dirty="0" smtClean="0"/>
              <a:t> </a:t>
            </a:r>
            <a:r>
              <a:rPr lang="en-US" altLang="ko-KR" sz="2800" b="1" dirty="0" smtClean="0"/>
              <a:t>vs CASE </a:t>
            </a:r>
            <a:r>
              <a:rPr lang="ko-KR" altLang="en-US" sz="2800" b="1" dirty="0" err="1" smtClean="0"/>
              <a:t>표현식</a:t>
            </a:r>
            <a:endParaRPr lang="ko-KR" altLang="en-US" sz="2800" b="1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632" y="1412776"/>
            <a:ext cx="4168501" cy="3337849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1224356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 smtClean="0"/>
              <a:t>  </a:t>
            </a:r>
            <a:r>
              <a:rPr lang="en-US" altLang="ko-KR" sz="2800" b="1" dirty="0"/>
              <a:t>DECODE </a:t>
            </a:r>
            <a:r>
              <a:rPr lang="ko-KR" altLang="en-US" sz="2800" b="1" dirty="0" smtClean="0"/>
              <a:t>함수</a:t>
            </a:r>
            <a:r>
              <a:rPr lang="en-US" altLang="ko-KR" sz="2800" b="1" dirty="0" smtClean="0"/>
              <a:t>()</a:t>
            </a:r>
            <a:r>
              <a:rPr lang="ko-KR" altLang="en-US" sz="2800" b="1" dirty="0" smtClean="0"/>
              <a:t> </a:t>
            </a:r>
            <a:r>
              <a:rPr lang="en-US" altLang="ko-KR" sz="2800" b="1" dirty="0" smtClean="0"/>
              <a:t>vs CASE </a:t>
            </a:r>
            <a:r>
              <a:rPr lang="ko-KR" altLang="en-US" sz="2800" b="1" dirty="0" err="1" smtClean="0"/>
              <a:t>표현식</a:t>
            </a:r>
            <a:endParaRPr lang="ko-KR" altLang="en-US" sz="2800" b="1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4595" y="1412776"/>
            <a:ext cx="4549534" cy="4061812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192" y="4077072"/>
            <a:ext cx="1226926" cy="51058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5079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 smtClean="0"/>
              <a:t>  </a:t>
            </a:r>
            <a:r>
              <a:rPr lang="en-US" altLang="ko-KR" sz="2800" b="1" dirty="0"/>
              <a:t>DECODE </a:t>
            </a:r>
            <a:r>
              <a:rPr lang="ko-KR" altLang="en-US" sz="2800" b="1" dirty="0" smtClean="0"/>
              <a:t>함수</a:t>
            </a:r>
            <a:r>
              <a:rPr lang="en-US" altLang="ko-KR" sz="2800" b="1" dirty="0" smtClean="0"/>
              <a:t>()</a:t>
            </a:r>
            <a:r>
              <a:rPr lang="ko-KR" altLang="en-US" sz="2800" b="1" dirty="0" smtClean="0"/>
              <a:t> </a:t>
            </a:r>
            <a:r>
              <a:rPr lang="en-US" altLang="ko-KR" sz="2800" b="1" dirty="0" smtClean="0"/>
              <a:t>vs CASE </a:t>
            </a:r>
            <a:r>
              <a:rPr lang="ko-KR" altLang="en-US" sz="2800" b="1" dirty="0" err="1" smtClean="0"/>
              <a:t>표현식</a:t>
            </a:r>
            <a:endParaRPr lang="ko-KR" altLang="en-US" sz="2800" b="1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3928" y="1412776"/>
            <a:ext cx="4419983" cy="4023709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608" y="1412776"/>
            <a:ext cx="2001564" cy="158417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901869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827584" y="1052736"/>
            <a:ext cx="6120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smtClean="0"/>
              <a:t>RANK() </a:t>
            </a:r>
            <a:r>
              <a:rPr lang="ko-KR" altLang="en-US" sz="2000" b="1" dirty="0" smtClean="0"/>
              <a:t>함수 </a:t>
            </a:r>
            <a:r>
              <a:rPr lang="en-US" altLang="ko-KR" sz="2000" b="1" dirty="0" smtClean="0"/>
              <a:t>– </a:t>
            </a:r>
            <a:r>
              <a:rPr lang="ko-KR" altLang="en-US" sz="2000" b="1" dirty="0" smtClean="0"/>
              <a:t>데이터 값에 순위 정하기</a:t>
            </a:r>
            <a:endParaRPr lang="ko-KR" altLang="en-US" sz="2000" b="1" dirty="0"/>
          </a:p>
        </p:txBody>
      </p:sp>
      <p:sp>
        <p:nvSpPr>
          <p:cNvPr id="10" name="제목 1"/>
          <p:cNvSpPr>
            <a:spLocks noGrp="1"/>
          </p:cNvSpPr>
          <p:nvPr>
            <p:ph type="title"/>
          </p:nvPr>
        </p:nvSpPr>
        <p:spPr>
          <a:xfrm>
            <a:off x="1" y="-18256"/>
            <a:ext cx="5724128" cy="854968"/>
          </a:xfrm>
        </p:spPr>
        <p:txBody>
          <a:bodyPr>
            <a:normAutofit/>
          </a:bodyPr>
          <a:lstStyle/>
          <a:p>
            <a:r>
              <a:rPr lang="en-US" altLang="ko-KR" sz="2800" dirty="0" smtClean="0"/>
              <a:t>  </a:t>
            </a:r>
            <a:r>
              <a:rPr lang="ko-KR" altLang="en-US" sz="2800" b="1" dirty="0" smtClean="0"/>
              <a:t>그룹 함수 </a:t>
            </a:r>
            <a:r>
              <a:rPr lang="en-US" altLang="ko-KR" sz="2800" b="1" dirty="0" smtClean="0"/>
              <a:t>– RANK()</a:t>
            </a:r>
            <a:endParaRPr lang="ko-KR" altLang="en-US" sz="2800" b="1" dirty="0"/>
          </a:p>
        </p:txBody>
      </p:sp>
      <p:graphicFrame>
        <p:nvGraphicFramePr>
          <p:cNvPr id="9" name="내용 개체 틀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25756321"/>
              </p:ext>
            </p:extLst>
          </p:nvPr>
        </p:nvGraphicFramePr>
        <p:xfrm>
          <a:off x="827584" y="1844824"/>
          <a:ext cx="7632848" cy="2262207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18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6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628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/>
                        <a:t>함수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/>
                        <a:t>설명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/>
                        <a:t>순위 예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9439"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600" dirty="0" smtClean="0"/>
                        <a:t> RANK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공통 순위를 출력하되 공통 순위만큼 건너뛰어 다음 순위를 출력한다</a:t>
                      </a:r>
                      <a:r>
                        <a:rPr lang="en-US" altLang="ko-KR" sz="1600" dirty="0" smtClean="0"/>
                        <a:t>.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600" dirty="0" smtClean="0"/>
                        <a:t> 1, 2, 2, 4, …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28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DENSE_RANK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 smtClean="0"/>
                        <a:t>공통 순위를 출력하되 공통 건너 뛰지 않고 다음 순위를 출력한다</a:t>
                      </a:r>
                      <a:r>
                        <a:rPr lang="en-US" altLang="ko-KR" sz="1600" dirty="0" smtClean="0"/>
                        <a:t>.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smtClean="0"/>
                        <a:t> 1, 2, 2, 3, …</a:t>
                      </a:r>
                      <a:endParaRPr lang="ko-KR" altLang="en-US" sz="1600" dirty="0" smtClean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7632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827584" y="1052736"/>
            <a:ext cx="6120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smtClean="0"/>
              <a:t>RANK() </a:t>
            </a:r>
            <a:r>
              <a:rPr lang="ko-KR" altLang="en-US" sz="2000" b="1" dirty="0" smtClean="0"/>
              <a:t>함수 </a:t>
            </a:r>
            <a:r>
              <a:rPr lang="en-US" altLang="ko-KR" sz="2000" b="1" dirty="0" smtClean="0"/>
              <a:t>– </a:t>
            </a:r>
            <a:r>
              <a:rPr lang="ko-KR" altLang="en-US" sz="2000" b="1" dirty="0" smtClean="0"/>
              <a:t>데이터 값에 순위 정하기</a:t>
            </a:r>
            <a:endParaRPr lang="ko-KR" altLang="en-US" sz="2000" b="1" dirty="0"/>
          </a:p>
        </p:txBody>
      </p:sp>
      <p:sp>
        <p:nvSpPr>
          <p:cNvPr id="10" name="제목 1"/>
          <p:cNvSpPr>
            <a:spLocks noGrp="1"/>
          </p:cNvSpPr>
          <p:nvPr>
            <p:ph type="title"/>
          </p:nvPr>
        </p:nvSpPr>
        <p:spPr>
          <a:xfrm>
            <a:off x="1" y="-18256"/>
            <a:ext cx="5724128" cy="854968"/>
          </a:xfrm>
        </p:spPr>
        <p:txBody>
          <a:bodyPr>
            <a:normAutofit/>
          </a:bodyPr>
          <a:lstStyle/>
          <a:p>
            <a:r>
              <a:rPr lang="en-US" altLang="ko-KR" sz="2800" dirty="0" smtClean="0"/>
              <a:t>  </a:t>
            </a:r>
            <a:r>
              <a:rPr lang="ko-KR" altLang="en-US" sz="2800" b="1" dirty="0" smtClean="0"/>
              <a:t>그룹 함수 </a:t>
            </a:r>
            <a:r>
              <a:rPr lang="en-US" altLang="ko-KR" sz="2800" b="1" dirty="0" smtClean="0"/>
              <a:t>– RANK()</a:t>
            </a:r>
            <a:endParaRPr lang="ko-KR" altLang="en-US" sz="2800" b="1" dirty="0"/>
          </a:p>
        </p:txBody>
      </p:sp>
      <p:sp>
        <p:nvSpPr>
          <p:cNvPr id="7" name="내용 개체 틀 2"/>
          <p:cNvSpPr txBox="1">
            <a:spLocks/>
          </p:cNvSpPr>
          <p:nvPr/>
        </p:nvSpPr>
        <p:spPr>
          <a:xfrm>
            <a:off x="1835696" y="1700808"/>
            <a:ext cx="4896544" cy="5074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b="1" dirty="0" smtClean="0"/>
              <a:t>RANK()  OVER(ORDER BY </a:t>
            </a:r>
            <a:r>
              <a:rPr lang="ko-KR" altLang="en-US" sz="1800" b="1" dirty="0" smtClean="0"/>
              <a:t>열 이름</a:t>
            </a:r>
            <a:r>
              <a:rPr lang="en-US" altLang="ko-KR" sz="1800" b="1" dirty="0" smtClean="0"/>
              <a:t>)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3152642"/>
            <a:ext cx="6226080" cy="135647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4840086"/>
            <a:ext cx="4122777" cy="1181202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11" name="내용 개체 틀 2"/>
          <p:cNvSpPr txBox="1">
            <a:spLocks/>
          </p:cNvSpPr>
          <p:nvPr/>
        </p:nvSpPr>
        <p:spPr>
          <a:xfrm>
            <a:off x="1835696" y="2326248"/>
            <a:ext cx="4896544" cy="5074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b="1" dirty="0" smtClean="0"/>
              <a:t>DENSE_RANK</a:t>
            </a:r>
            <a:r>
              <a:rPr lang="en-US" altLang="ko-KR" sz="1800" b="1" dirty="0" smtClean="0"/>
              <a:t>()  OVER(ORDER BY </a:t>
            </a:r>
            <a:r>
              <a:rPr lang="ko-KR" altLang="en-US" sz="1800" b="1" dirty="0" smtClean="0"/>
              <a:t>열 이름</a:t>
            </a:r>
            <a:r>
              <a:rPr lang="en-US" altLang="ko-KR" sz="1800" b="1" dirty="0" smtClean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32806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 smtClean="0"/>
              <a:t> </a:t>
            </a:r>
            <a:r>
              <a:rPr lang="en-US" altLang="ko-KR" sz="2800" b="1" dirty="0" smtClean="0"/>
              <a:t>LOLLUP() </a:t>
            </a:r>
            <a:r>
              <a:rPr lang="ko-KR" altLang="en-US" sz="2800" b="1" dirty="0"/>
              <a:t>함수 </a:t>
            </a:r>
            <a:r>
              <a:rPr lang="en-US" altLang="ko-KR" sz="2800" b="1" dirty="0"/>
              <a:t>vs </a:t>
            </a:r>
            <a:r>
              <a:rPr lang="en-US" altLang="ko-KR" sz="2800" b="1" dirty="0" smtClean="0"/>
              <a:t>CUBE()</a:t>
            </a:r>
            <a:endParaRPr lang="ko-KR" altLang="en-US" sz="28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827584" y="1193356"/>
            <a:ext cx="38164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smtClean="0"/>
              <a:t>LOLLUP(</a:t>
            </a:r>
            <a:r>
              <a:rPr lang="ko-KR" altLang="en-US" sz="2000" b="1" dirty="0" err="1" smtClean="0"/>
              <a:t>칼럼명</a:t>
            </a:r>
            <a:r>
              <a:rPr lang="en-US" altLang="ko-KR" sz="2000" b="1" dirty="0" smtClean="0"/>
              <a:t>, </a:t>
            </a:r>
            <a:r>
              <a:rPr lang="ko-KR" altLang="en-US" sz="2000" b="1" dirty="0" err="1" smtClean="0"/>
              <a:t>칼럼명</a:t>
            </a:r>
            <a:r>
              <a:rPr lang="en-US" altLang="ko-KR" sz="2000" b="1" dirty="0" smtClean="0"/>
              <a:t>)</a:t>
            </a:r>
            <a:endParaRPr lang="ko-KR" altLang="en-US" sz="2000" b="1" dirty="0"/>
          </a:p>
        </p:txBody>
      </p:sp>
      <p:sp>
        <p:nvSpPr>
          <p:cNvPr id="8" name="내용 개체 틀 2"/>
          <p:cNvSpPr txBox="1">
            <a:spLocks/>
          </p:cNvSpPr>
          <p:nvPr/>
        </p:nvSpPr>
        <p:spPr>
          <a:xfrm>
            <a:off x="1259632" y="1718753"/>
            <a:ext cx="6120680" cy="137154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dirty="0" smtClean="0"/>
              <a:t>GROUP BY</a:t>
            </a:r>
            <a:r>
              <a:rPr lang="ko-KR" altLang="en-US" sz="1800" dirty="0" smtClean="0"/>
              <a:t>의 칼럼에 대해서 소계를 만들어 준다</a:t>
            </a:r>
            <a:r>
              <a:rPr lang="en-US" altLang="ko-KR" sz="1800" dirty="0" smtClean="0"/>
              <a:t>.</a:t>
            </a:r>
            <a:r>
              <a:rPr lang="ko-KR" altLang="en-US" sz="1800" dirty="0" smtClean="0"/>
              <a:t> </a:t>
            </a:r>
            <a:endParaRPr lang="en-US" altLang="ko-KR" sz="1800" dirty="0" smtClean="0"/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dirty="0" smtClean="0"/>
              <a:t>GROUP BY </a:t>
            </a:r>
            <a:r>
              <a:rPr lang="ko-KR" altLang="en-US" sz="1800" dirty="0" smtClean="0"/>
              <a:t>구문에 칼럼이 두 개 이상 오면 순서에 따라</a:t>
            </a:r>
            <a:endParaRPr lang="en-US" altLang="ko-KR" sz="1800" dirty="0" smtClean="0"/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800" dirty="0" smtClean="0"/>
              <a:t>결과가 달라진다</a:t>
            </a:r>
            <a:r>
              <a:rPr lang="en-US" altLang="ko-KR" sz="1800" dirty="0" smtClean="0"/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84" y="3924345"/>
            <a:ext cx="5400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smtClean="0"/>
              <a:t>CUBE(</a:t>
            </a:r>
            <a:r>
              <a:rPr lang="ko-KR" altLang="en-US" sz="2000" b="1" dirty="0" err="1" smtClean="0"/>
              <a:t>칼럼명</a:t>
            </a:r>
            <a:r>
              <a:rPr lang="en-US" altLang="ko-KR" sz="2000" b="1" dirty="0" smtClean="0"/>
              <a:t>, </a:t>
            </a:r>
            <a:r>
              <a:rPr lang="ko-KR" altLang="en-US" sz="2000" b="1" dirty="0" err="1" smtClean="0"/>
              <a:t>칼럼명</a:t>
            </a:r>
            <a:r>
              <a:rPr lang="en-US" altLang="ko-KR" sz="2000" b="1" dirty="0" smtClean="0"/>
              <a:t>)</a:t>
            </a:r>
            <a:endParaRPr lang="ko-KR" altLang="en-US" sz="2000" b="1" dirty="0"/>
          </a:p>
        </p:txBody>
      </p:sp>
      <p:sp>
        <p:nvSpPr>
          <p:cNvPr id="9" name="내용 개체 틀 2"/>
          <p:cNvSpPr txBox="1">
            <a:spLocks/>
          </p:cNvSpPr>
          <p:nvPr/>
        </p:nvSpPr>
        <p:spPr>
          <a:xfrm>
            <a:off x="1259632" y="4497012"/>
            <a:ext cx="6984776" cy="10922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sz="1800" dirty="0"/>
              <a:t>GROUP BY</a:t>
            </a:r>
            <a:r>
              <a:rPr lang="ko-KR" altLang="en-US" sz="1800" dirty="0"/>
              <a:t>의 칼럼에 대해서 </a:t>
            </a:r>
            <a:r>
              <a:rPr lang="ko-KR" altLang="en-US" sz="1800" dirty="0" smtClean="0"/>
              <a:t>결합 가능한 모든 집계를 계산한다</a:t>
            </a:r>
            <a:r>
              <a:rPr lang="en-US" altLang="ko-KR" sz="1800" dirty="0" smtClean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800" dirty="0" smtClean="0"/>
              <a:t>다차원 집계를 제공하여 다양하게 데이터를 분석할 수 있다</a:t>
            </a:r>
            <a:endParaRPr lang="en-US" altLang="ko-KR" sz="1800" dirty="0" smtClean="0"/>
          </a:p>
        </p:txBody>
      </p:sp>
    </p:spTree>
    <p:extLst>
      <p:ext uri="{BB962C8B-B14F-4D97-AF65-F5344CB8AC3E}">
        <p14:creationId xmlns:p14="http://schemas.microsoft.com/office/powerpoint/2010/main" val="4008795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 smtClean="0"/>
              <a:t> </a:t>
            </a:r>
            <a:r>
              <a:rPr lang="en-US" altLang="ko-KR" sz="2800" b="1" dirty="0" smtClean="0"/>
              <a:t>LOLLUP() </a:t>
            </a:r>
            <a:r>
              <a:rPr lang="ko-KR" altLang="en-US" sz="2800" b="1" dirty="0"/>
              <a:t>함수 </a:t>
            </a:r>
            <a:r>
              <a:rPr lang="en-US" altLang="ko-KR" sz="2800" b="1" dirty="0"/>
              <a:t>vs </a:t>
            </a:r>
            <a:r>
              <a:rPr lang="en-US" altLang="ko-KR" sz="2800" b="1" dirty="0" smtClean="0"/>
              <a:t>CUBE()</a:t>
            </a:r>
            <a:endParaRPr lang="ko-KR" altLang="en-US" sz="28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28</a:t>
            </a:fld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616" y="1340768"/>
            <a:ext cx="5121084" cy="307112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37095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 smtClean="0"/>
              <a:t> </a:t>
            </a:r>
            <a:r>
              <a:rPr lang="en-US" altLang="ko-KR" sz="2800" b="1" dirty="0" smtClean="0"/>
              <a:t>LOLLUP() </a:t>
            </a:r>
            <a:r>
              <a:rPr lang="ko-KR" altLang="en-US" sz="2800" b="1" dirty="0"/>
              <a:t>함수 </a:t>
            </a:r>
            <a:r>
              <a:rPr lang="en-US" altLang="ko-KR" sz="2800" b="1" dirty="0"/>
              <a:t>vs </a:t>
            </a:r>
            <a:r>
              <a:rPr lang="en-US" altLang="ko-KR" sz="2800" b="1" dirty="0" smtClean="0"/>
              <a:t>CUBE()</a:t>
            </a:r>
            <a:endParaRPr lang="ko-KR" altLang="en-US" sz="28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29</a:t>
            </a:fld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584" y="1412776"/>
            <a:ext cx="3589331" cy="284250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064" y="1412776"/>
            <a:ext cx="3139712" cy="1767993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3788" y="3501008"/>
            <a:ext cx="3093988" cy="2339543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178639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3408</TotalTime>
  <Words>1004</Words>
  <Application>Microsoft Office PowerPoint</Application>
  <PresentationFormat>화면 슬라이드 쇼(4:3)</PresentationFormat>
  <Paragraphs>246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5" baseType="lpstr">
      <vt:lpstr>HY헤드라인M</vt:lpstr>
      <vt:lpstr>맑은 고딕</vt:lpstr>
      <vt:lpstr>휴먼모음T</vt:lpstr>
      <vt:lpstr>휴먼엑스포</vt:lpstr>
      <vt:lpstr>Arial</vt:lpstr>
      <vt:lpstr>Office 테마</vt:lpstr>
      <vt:lpstr>5장.  함수</vt:lpstr>
      <vt:lpstr>  SQL 내장 함수</vt:lpstr>
      <vt:lpstr>  단일행 함수</vt:lpstr>
      <vt:lpstr>  숫자 함수</vt:lpstr>
      <vt:lpstr>  숫자 함수</vt:lpstr>
      <vt:lpstr>  숫자 함수</vt:lpstr>
      <vt:lpstr>  단일행 함수</vt:lpstr>
      <vt:lpstr>  문자타입 함수</vt:lpstr>
      <vt:lpstr>  문자타입 함수</vt:lpstr>
      <vt:lpstr>  문자타입 함수</vt:lpstr>
      <vt:lpstr>  단일행 함수</vt:lpstr>
      <vt:lpstr>  날짜 함수</vt:lpstr>
      <vt:lpstr>  날짜 함수</vt:lpstr>
      <vt:lpstr>  단일행 함수</vt:lpstr>
      <vt:lpstr>  단일행 함수</vt:lpstr>
      <vt:lpstr>  단일행 함수</vt:lpstr>
      <vt:lpstr>  단일행 함수</vt:lpstr>
      <vt:lpstr>  일반 함수 – NVL() 함수</vt:lpstr>
      <vt:lpstr>  일반 함수 – NVL() 함수</vt:lpstr>
      <vt:lpstr> 그룹 함수</vt:lpstr>
      <vt:lpstr> DECODE() 함수 vs CASE 표현식</vt:lpstr>
      <vt:lpstr>  DECODE 함수() vs CASE 표현식</vt:lpstr>
      <vt:lpstr>  DECODE 함수() vs CASE 표현식</vt:lpstr>
      <vt:lpstr>  DECODE 함수() vs CASE 표현식</vt:lpstr>
      <vt:lpstr>  그룹 함수 – RANK()</vt:lpstr>
      <vt:lpstr>  그룹 함수 – RANK()</vt:lpstr>
      <vt:lpstr> LOLLUP() 함수 vs CUBE()</vt:lpstr>
      <vt:lpstr> LOLLUP() 함수 vs CUBE()</vt:lpstr>
      <vt:lpstr> LOLLUP() 함수 vs CUBE()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giyong kim</cp:lastModifiedBy>
  <cp:revision>267</cp:revision>
  <dcterms:created xsi:type="dcterms:W3CDTF">2019-03-04T02:36:55Z</dcterms:created>
  <dcterms:modified xsi:type="dcterms:W3CDTF">2023-04-12T22:49:50Z</dcterms:modified>
</cp:coreProperties>
</file>