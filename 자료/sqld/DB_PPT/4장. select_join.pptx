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256" r:id="rId2"/>
    <p:sldId id="325" r:id="rId3"/>
    <p:sldId id="357" r:id="rId4"/>
    <p:sldId id="359" r:id="rId5"/>
    <p:sldId id="374" r:id="rId6"/>
    <p:sldId id="371" r:id="rId7"/>
    <p:sldId id="372" r:id="rId8"/>
    <p:sldId id="373" r:id="rId9"/>
    <p:sldId id="375" r:id="rId10"/>
    <p:sldId id="376" r:id="rId11"/>
    <p:sldId id="377" r:id="rId12"/>
    <p:sldId id="378" r:id="rId13"/>
    <p:sldId id="384" r:id="rId14"/>
    <p:sldId id="379" r:id="rId15"/>
    <p:sldId id="380" r:id="rId16"/>
    <p:sldId id="381" r:id="rId17"/>
    <p:sldId id="387" r:id="rId18"/>
    <p:sldId id="382" r:id="rId19"/>
    <p:sldId id="383" r:id="rId20"/>
    <p:sldId id="395" r:id="rId21"/>
    <p:sldId id="385" r:id="rId22"/>
    <p:sldId id="388" r:id="rId23"/>
    <p:sldId id="386" r:id="rId24"/>
    <p:sldId id="389" r:id="rId25"/>
    <p:sldId id="369" r:id="rId26"/>
    <p:sldId id="370" r:id="rId27"/>
    <p:sldId id="394" r:id="rId28"/>
    <p:sldId id="363" r:id="rId29"/>
    <p:sldId id="364" r:id="rId30"/>
    <p:sldId id="366" r:id="rId31"/>
    <p:sldId id="365" r:id="rId32"/>
    <p:sldId id="390" r:id="rId33"/>
    <p:sldId id="391" r:id="rId34"/>
    <p:sldId id="392" r:id="rId35"/>
    <p:sldId id="393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>
      <p:cViewPr varScale="1">
        <p:scale>
          <a:sx n="108" d="100"/>
          <a:sy n="108" d="100"/>
        </p:scale>
        <p:origin x="171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1" y="1379514"/>
            <a:ext cx="6334472" cy="122656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67615"/>
            <a:ext cx="7164288" cy="455479"/>
          </a:xfrm>
          <a:solidFill>
            <a:srgbClr val="00B0F0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2000" i="1">
                <a:solidFill>
                  <a:srgbClr val="00206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979712" cy="26910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67615"/>
            <a:ext cx="1979712" cy="478905"/>
          </a:xfrm>
          <a:prstGeom prst="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214689" y="2735987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556854" y="2735988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3130698"/>
            <a:ext cx="1979712" cy="372730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68810"/>
            <a:ext cx="2269834" cy="22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4779-FB94-4D0A-9770-16BB460ADD4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87F0D-089E-4098-8EE9-5721C76E52E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50FE-E6B2-4D57-AAF6-1B2A37421AA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20C2-C949-4E4F-9580-FEE4F2DAC554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BFE0-70CA-4AA9-9C17-F02054822E7E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4A72-C6AC-45C3-AE5A-9CF6D245353A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9E8D-7616-4FA8-9B12-88059974D49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C3F6-B4DC-4E51-8609-BCC628ECDBF3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FE80-3752-4C44-80B8-E31C3450070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88D13-428F-4553-BC93-2E91B1DA3F5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C586-F21B-48DD-B591-4B12E73E074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381328"/>
            <a:ext cx="9144000" cy="47667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다이아몬드 9"/>
          <p:cNvSpPr/>
          <p:nvPr userDrawn="1"/>
        </p:nvSpPr>
        <p:spPr>
          <a:xfrm>
            <a:off x="107505" y="6093296"/>
            <a:ext cx="465282" cy="590922"/>
          </a:xfrm>
          <a:prstGeom prst="diamond">
            <a:avLst/>
          </a:prstGeom>
          <a:solidFill>
            <a:srgbClr val="00206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다이아몬드 8"/>
          <p:cNvSpPr/>
          <p:nvPr userDrawn="1"/>
        </p:nvSpPr>
        <p:spPr>
          <a:xfrm>
            <a:off x="251521" y="6093296"/>
            <a:ext cx="465282" cy="590922"/>
          </a:xfrm>
          <a:prstGeom prst="diamond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172400" y="6453338"/>
            <a:ext cx="5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0" y="1379514"/>
            <a:ext cx="5544616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3</a:t>
            </a:r>
            <a:r>
              <a:rPr lang="ko-KR" altLang="en-US" sz="32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32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SQL – DML</a:t>
            </a:r>
            <a:endParaRPr lang="ko-KR" altLang="en-US" sz="3200" b="1" dirty="0">
              <a:solidFill>
                <a:srgbClr val="0070C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74416"/>
            <a:ext cx="7164288" cy="456974"/>
          </a:xfrm>
          <a:solidFill>
            <a:srgbClr val="FFC000"/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데이터 베이스 구성요소</a:t>
            </a:r>
            <a:endParaRPr lang="ko-KR" alt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043608" y="2168860"/>
            <a:ext cx="6552727" cy="5040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SELECT  </a:t>
            </a:r>
            <a:r>
              <a:rPr lang="ko-KR" altLang="en-US" sz="1600" dirty="0"/>
              <a:t>칼럼이름 </a:t>
            </a:r>
            <a:r>
              <a:rPr lang="en-US" altLang="ko-KR" sz="1600" dirty="0"/>
              <a:t>(or </a:t>
            </a:r>
            <a:r>
              <a:rPr lang="ko-KR" altLang="en-US" sz="1600" dirty="0"/>
              <a:t>별칭</a:t>
            </a:r>
            <a:r>
              <a:rPr lang="en-US" altLang="ko-KR" sz="1600" dirty="0"/>
              <a:t>) </a:t>
            </a:r>
            <a:r>
              <a:rPr lang="en-US" altLang="ko-KR" sz="1600" b="1" dirty="0"/>
              <a:t>FROM</a:t>
            </a:r>
            <a:r>
              <a:rPr lang="en-US" altLang="ko-KR" sz="1600" dirty="0"/>
              <a:t>  </a:t>
            </a:r>
            <a:r>
              <a:rPr lang="ko-KR" altLang="en-US" sz="1600" dirty="0"/>
              <a:t>테이블 이름</a:t>
            </a:r>
            <a:r>
              <a:rPr lang="en-US" altLang="ko-KR" sz="1600" dirty="0"/>
              <a:t>  </a:t>
            </a:r>
            <a:r>
              <a:rPr lang="en-US" altLang="ko-KR" sz="1600" b="1" dirty="0"/>
              <a:t>WHERE 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조건문</a:t>
            </a:r>
            <a:endParaRPr lang="en-US" altLang="ko-KR" sz="1600" dirty="0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755577" y="980728"/>
            <a:ext cx="7848872" cy="14401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WHERE</a:t>
            </a:r>
            <a:r>
              <a:rPr lang="ko-KR" altLang="en-US" sz="1800" dirty="0"/>
              <a:t>절은 조건에 맞는 검색을 </a:t>
            </a:r>
            <a:r>
              <a:rPr lang="ko-KR" altLang="en-US" sz="1800" dirty="0" err="1"/>
              <a:t>할때</a:t>
            </a:r>
            <a:r>
              <a:rPr lang="ko-KR" altLang="en-US" sz="1800" dirty="0"/>
              <a:t> 사용한다</a:t>
            </a:r>
            <a:r>
              <a:rPr lang="en-US" altLang="ko-KR" sz="1800" dirty="0"/>
              <a:t>. </a:t>
            </a:r>
            <a:r>
              <a:rPr lang="ko-KR" altLang="en-US" sz="1800" dirty="0"/>
              <a:t>조건으로 사용할 수 있는 술어는 비교</a:t>
            </a:r>
            <a:r>
              <a:rPr lang="en-US" altLang="ko-KR" sz="1800" dirty="0"/>
              <a:t>, </a:t>
            </a:r>
            <a:r>
              <a:rPr lang="ko-KR" altLang="en-US" sz="1800" dirty="0"/>
              <a:t>범위</a:t>
            </a:r>
            <a:r>
              <a:rPr lang="en-US" altLang="ko-KR" sz="1800" dirty="0"/>
              <a:t>, </a:t>
            </a:r>
            <a:r>
              <a:rPr lang="ko-KR" altLang="en-US" sz="1800" dirty="0"/>
              <a:t>집합</a:t>
            </a:r>
            <a:r>
              <a:rPr lang="en-US" altLang="ko-KR" sz="1800" dirty="0"/>
              <a:t>, </a:t>
            </a:r>
            <a:r>
              <a:rPr lang="ko-KR" altLang="en-US" sz="1800" dirty="0"/>
              <a:t>패턴</a:t>
            </a:r>
            <a:r>
              <a:rPr lang="en-US" altLang="ko-KR" sz="1800" dirty="0"/>
              <a:t>, NULL</a:t>
            </a:r>
            <a:r>
              <a:rPr lang="ko-KR" altLang="en-US" sz="1800" dirty="0"/>
              <a:t>로 구분할 수 있다</a:t>
            </a:r>
            <a:r>
              <a:rPr lang="en-US" altLang="ko-KR" sz="1800" dirty="0"/>
              <a:t>.</a:t>
            </a:r>
          </a:p>
        </p:txBody>
      </p:sp>
      <p:graphicFrame>
        <p:nvGraphicFramePr>
          <p:cNvPr id="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405336"/>
              </p:ext>
            </p:extLst>
          </p:nvPr>
        </p:nvGraphicFramePr>
        <p:xfrm>
          <a:off x="971600" y="2924944"/>
          <a:ext cx="7056784" cy="28083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024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u="none" dirty="0"/>
                        <a:t> 연산자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 기능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/>
                        <a:t>  =,  &lt;&gt;,  &gt;,  &lt;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비교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같다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같지않다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크다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작다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  BETWEEN..</a:t>
                      </a:r>
                      <a:r>
                        <a:rPr lang="en-US" altLang="ko-KR" sz="1800" baseline="0" dirty="0"/>
                        <a:t> AND..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범위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8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/>
                        <a:t>  IN</a:t>
                      </a:r>
                      <a:r>
                        <a:rPr lang="en-US" altLang="ko-KR" sz="1800" baseline="0" dirty="0"/>
                        <a:t> (A, B, C), NOT IN()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포함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 err="1"/>
                        <a:t>조건값이</a:t>
                      </a:r>
                      <a:r>
                        <a:rPr lang="ko-KR" altLang="en-US" sz="1600" dirty="0"/>
                        <a:t> 명확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/>
                        <a:t>  LIKE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조회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 err="1"/>
                        <a:t>조건값이</a:t>
                      </a:r>
                      <a:r>
                        <a:rPr lang="ko-KR" altLang="en-US" sz="1600" dirty="0"/>
                        <a:t> 불명확</a:t>
                      </a:r>
                      <a:r>
                        <a:rPr lang="en-US" altLang="ko-KR" sz="1600" dirty="0"/>
                        <a:t>), % </a:t>
                      </a:r>
                      <a:r>
                        <a:rPr lang="ko-KR" altLang="en-US" sz="1600" dirty="0"/>
                        <a:t>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8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  IS NULL, IS</a:t>
                      </a:r>
                      <a:r>
                        <a:rPr lang="en-US" altLang="ko-KR" sz="1800" baseline="0" dirty="0"/>
                        <a:t> NOT NULL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데이터 값이 </a:t>
                      </a:r>
                      <a:r>
                        <a:rPr lang="en-US" altLang="ko-KR" sz="1600" dirty="0"/>
                        <a:t>NULL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인 경우 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557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741"/>
          <a:stretch/>
        </p:blipFill>
        <p:spPr>
          <a:xfrm>
            <a:off x="1187624" y="1268760"/>
            <a:ext cx="5384293" cy="28083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43"/>
          <a:stretch/>
        </p:blipFill>
        <p:spPr>
          <a:xfrm>
            <a:off x="1187624" y="4862872"/>
            <a:ext cx="5384293" cy="11584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187623" y="4390174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◆ 비교</a:t>
            </a:r>
          </a:p>
        </p:txBody>
      </p:sp>
    </p:spTree>
    <p:extLst>
      <p:ext uri="{BB962C8B-B14F-4D97-AF65-F5344CB8AC3E}">
        <p14:creationId xmlns:p14="http://schemas.microsoft.com/office/powerpoint/2010/main" val="385382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60" b="26367"/>
          <a:stretch/>
        </p:blipFill>
        <p:spPr>
          <a:xfrm>
            <a:off x="1331640" y="1814195"/>
            <a:ext cx="5256584" cy="24482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15616" y="119675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◆ 범위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795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287"/>
          <a:stretch/>
        </p:blipFill>
        <p:spPr>
          <a:xfrm>
            <a:off x="1475656" y="3283792"/>
            <a:ext cx="5256584" cy="1029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15616" y="119675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◆ 집합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99"/>
          <a:stretch/>
        </p:blipFill>
        <p:spPr>
          <a:xfrm>
            <a:off x="1475656" y="1926124"/>
            <a:ext cx="5256584" cy="12371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622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07" b="25961"/>
          <a:stretch/>
        </p:blipFill>
        <p:spPr>
          <a:xfrm>
            <a:off x="1259632" y="1865803"/>
            <a:ext cx="5700254" cy="2376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295713"/>
            <a:ext cx="5712019" cy="9754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43608" y="119675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◆ 패턴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801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78"/>
          <a:stretch/>
        </p:blipFill>
        <p:spPr>
          <a:xfrm>
            <a:off x="1043608" y="1916832"/>
            <a:ext cx="5700254" cy="10865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31" y="3454657"/>
            <a:ext cx="5319221" cy="11964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43608" y="134076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◆ 복합 조건</a:t>
            </a:r>
          </a:p>
        </p:txBody>
      </p:sp>
    </p:spTree>
    <p:extLst>
      <p:ext uri="{BB962C8B-B14F-4D97-AF65-F5344CB8AC3E}">
        <p14:creationId xmlns:p14="http://schemas.microsoft.com/office/powerpoint/2010/main" val="257709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17"/>
          <a:stretch/>
        </p:blipFill>
        <p:spPr>
          <a:xfrm>
            <a:off x="1089358" y="2636912"/>
            <a:ext cx="6965284" cy="35643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1089358" y="1556792"/>
            <a:ext cx="6434970" cy="1008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SELECT  </a:t>
            </a:r>
            <a:r>
              <a:rPr lang="ko-KR" altLang="en-US" sz="1600" dirty="0"/>
              <a:t>칼럼이름 </a:t>
            </a:r>
            <a:r>
              <a:rPr lang="en-US" altLang="ko-KR" sz="1600" dirty="0"/>
              <a:t>(or </a:t>
            </a:r>
            <a:r>
              <a:rPr lang="ko-KR" altLang="en-US" sz="1600" dirty="0"/>
              <a:t>별칭</a:t>
            </a:r>
            <a:r>
              <a:rPr lang="en-US" altLang="ko-KR" sz="1600" dirty="0"/>
              <a:t>) </a:t>
            </a:r>
            <a:r>
              <a:rPr lang="en-US" altLang="ko-KR" sz="1600" b="1" dirty="0"/>
              <a:t>FROM</a:t>
            </a:r>
            <a:r>
              <a:rPr lang="en-US" altLang="ko-KR" sz="1600" dirty="0"/>
              <a:t>  </a:t>
            </a:r>
            <a:r>
              <a:rPr lang="ko-KR" altLang="en-US" sz="1600" dirty="0"/>
              <a:t>테이블 이름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dirty="0"/>
              <a:t>    </a:t>
            </a:r>
            <a:r>
              <a:rPr lang="en-US" altLang="ko-KR" sz="1600" b="1" dirty="0"/>
              <a:t>ORDER BY</a:t>
            </a:r>
            <a:r>
              <a:rPr lang="en-US" altLang="ko-KR" sz="1600" dirty="0"/>
              <a:t> </a:t>
            </a:r>
            <a:r>
              <a:rPr lang="ko-KR" altLang="en-US" sz="1600" dirty="0"/>
              <a:t>칼럼 이름 </a:t>
            </a:r>
            <a:r>
              <a:rPr lang="en-US" altLang="ko-KR" sz="1600" dirty="0"/>
              <a:t>ASC / DESC (</a:t>
            </a:r>
            <a:r>
              <a:rPr lang="ko-KR" altLang="en-US" sz="1600" dirty="0"/>
              <a:t>오름차순</a:t>
            </a:r>
            <a:r>
              <a:rPr lang="en-US" altLang="ko-KR" sz="1600" dirty="0"/>
              <a:t>/</a:t>
            </a:r>
            <a:r>
              <a:rPr lang="ko-KR" altLang="en-US" sz="1600" dirty="0"/>
              <a:t>내림차순</a:t>
            </a:r>
            <a:r>
              <a:rPr lang="en-US" altLang="ko-KR" sz="1600" dirty="0"/>
              <a:t>)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107005" y="980728"/>
            <a:ext cx="998873" cy="50405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정렬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6338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043608" y="112474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집계</a:t>
            </a:r>
            <a:r>
              <a:rPr lang="en-US" altLang="ko-KR" dirty="0"/>
              <a:t>(</a:t>
            </a:r>
            <a:r>
              <a:rPr lang="ko-KR" altLang="en-US" dirty="0"/>
              <a:t>그룹</a:t>
            </a:r>
            <a:r>
              <a:rPr lang="en-US" altLang="ko-KR" dirty="0"/>
              <a:t>)</a:t>
            </a:r>
            <a:r>
              <a:rPr lang="ko-KR" altLang="en-US" dirty="0"/>
              <a:t> 함수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119987" y="2204864"/>
            <a:ext cx="5760640" cy="1008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SELECT  </a:t>
            </a:r>
            <a:r>
              <a:rPr lang="ko-KR" altLang="en-US" sz="1600" dirty="0"/>
              <a:t>그룹함수 </a:t>
            </a:r>
            <a:r>
              <a:rPr lang="en-US" altLang="ko-KR" sz="1600" dirty="0"/>
              <a:t>(</a:t>
            </a:r>
            <a:r>
              <a:rPr lang="ko-KR" altLang="en-US" sz="1600" dirty="0"/>
              <a:t>칼럼이름</a:t>
            </a:r>
            <a:r>
              <a:rPr lang="en-US" altLang="ko-KR" sz="1600" dirty="0"/>
              <a:t>) </a:t>
            </a:r>
            <a:r>
              <a:rPr lang="en-US" altLang="ko-KR" sz="1600" b="1" dirty="0"/>
              <a:t>FROM</a:t>
            </a:r>
            <a:r>
              <a:rPr lang="en-US" altLang="ko-KR" sz="1600" dirty="0"/>
              <a:t>  </a:t>
            </a:r>
            <a:r>
              <a:rPr lang="ko-KR" altLang="en-US" sz="1600" dirty="0"/>
              <a:t>테이블 이름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dirty="0"/>
              <a:t>    </a:t>
            </a:r>
            <a:r>
              <a:rPr lang="en-US" altLang="ko-KR" sz="1600" b="1" dirty="0"/>
              <a:t>GROUP BY</a:t>
            </a:r>
            <a:r>
              <a:rPr lang="en-US" altLang="ko-KR" sz="1600" dirty="0"/>
              <a:t> </a:t>
            </a:r>
            <a:r>
              <a:rPr lang="ko-KR" altLang="en-US" sz="1600" dirty="0"/>
              <a:t>칼럼 이름</a:t>
            </a:r>
            <a:endParaRPr lang="en-US" altLang="ko-KR" sz="1600" dirty="0"/>
          </a:p>
        </p:txBody>
      </p:sp>
      <p:graphicFrame>
        <p:nvGraphicFramePr>
          <p:cNvPr id="21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630776"/>
              </p:ext>
            </p:extLst>
          </p:nvPr>
        </p:nvGraphicFramePr>
        <p:xfrm>
          <a:off x="1795475" y="3497763"/>
          <a:ext cx="4409664" cy="230425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58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u="none" dirty="0"/>
                        <a:t> 함수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 기능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SUM(</a:t>
                      </a:r>
                      <a:r>
                        <a:rPr lang="ko-KR" altLang="en-US" sz="1600" dirty="0"/>
                        <a:t>칼럼</a:t>
                      </a:r>
                      <a:r>
                        <a:rPr lang="en-US" altLang="ko-KR" sz="1600" baseline="0" dirty="0"/>
                        <a:t> 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합계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COUNT(*)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개수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AVG(</a:t>
                      </a:r>
                      <a:r>
                        <a:rPr lang="ko-KR" altLang="en-US" sz="1600" dirty="0"/>
                        <a:t>칼럼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평균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MAX(</a:t>
                      </a:r>
                      <a:r>
                        <a:rPr lang="ko-KR" altLang="en-US" sz="1600" dirty="0"/>
                        <a:t>칼럼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최대값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MIN(</a:t>
                      </a:r>
                      <a:r>
                        <a:rPr lang="ko-KR" altLang="en-US" sz="1600" dirty="0"/>
                        <a:t>칼럼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 </a:t>
                      </a:r>
                      <a:r>
                        <a:rPr lang="ko-KR" altLang="en-US" sz="1600" dirty="0"/>
                        <a:t>최소값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43608" y="1578128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테이블의 각 열에 대해 계산을 하는 함수</a:t>
            </a:r>
          </a:p>
        </p:txBody>
      </p:sp>
    </p:spTree>
    <p:extLst>
      <p:ext uri="{BB962C8B-B14F-4D97-AF65-F5344CB8AC3E}">
        <p14:creationId xmlns:p14="http://schemas.microsoft.com/office/powerpoint/2010/main" val="1439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9"/>
          <a:stretch/>
        </p:blipFill>
        <p:spPr>
          <a:xfrm>
            <a:off x="1475656" y="1536894"/>
            <a:ext cx="4610500" cy="4254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912450"/>
            <a:ext cx="1832772" cy="4537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2773529"/>
            <a:ext cx="916386" cy="4990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942260"/>
            <a:ext cx="1013548" cy="5029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786" y="1718552"/>
            <a:ext cx="777307" cy="457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62795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043608" y="1124744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GROUP BY</a:t>
            </a:r>
            <a:r>
              <a:rPr lang="en-US" altLang="ko-KR" dirty="0"/>
              <a:t>: </a:t>
            </a:r>
            <a:r>
              <a:rPr lang="ko-KR" altLang="en-US" dirty="0"/>
              <a:t>속성 값이 같은 </a:t>
            </a:r>
            <a:r>
              <a:rPr lang="ko-KR" altLang="en-US" dirty="0" err="1"/>
              <a:t>값끼리</a:t>
            </a:r>
            <a:r>
              <a:rPr lang="ko-KR" altLang="en-US" dirty="0"/>
              <a:t> 그룹을 만들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119987" y="1556792"/>
            <a:ext cx="5760640" cy="15841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SELECT  </a:t>
            </a:r>
            <a:r>
              <a:rPr lang="ko-KR" altLang="en-US" sz="1600" dirty="0"/>
              <a:t>그룹함수 </a:t>
            </a:r>
            <a:r>
              <a:rPr lang="en-US" altLang="ko-KR" sz="1600" dirty="0"/>
              <a:t>(</a:t>
            </a:r>
            <a:r>
              <a:rPr lang="ko-KR" altLang="en-US" sz="1600" dirty="0"/>
              <a:t>칼럼이름</a:t>
            </a:r>
            <a:r>
              <a:rPr lang="en-US" altLang="ko-KR" sz="1600" dirty="0"/>
              <a:t>) </a:t>
            </a:r>
            <a:r>
              <a:rPr lang="en-US" altLang="ko-KR" sz="1600" b="1" dirty="0"/>
              <a:t>FROM</a:t>
            </a:r>
            <a:r>
              <a:rPr lang="en-US" altLang="ko-KR" sz="1600" dirty="0"/>
              <a:t>  </a:t>
            </a:r>
            <a:r>
              <a:rPr lang="ko-KR" altLang="en-US" sz="1600" dirty="0"/>
              <a:t>테이블 이름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dirty="0"/>
              <a:t>    [WHERE  </a:t>
            </a:r>
            <a:r>
              <a:rPr lang="ko-KR" altLang="en-US" sz="1600" dirty="0" err="1"/>
              <a:t>조건식</a:t>
            </a:r>
            <a:r>
              <a:rPr lang="en-US" altLang="ko-KR" sz="1600" dirty="0"/>
              <a:t>]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GROUP BY</a:t>
            </a:r>
            <a:r>
              <a:rPr lang="en-US" altLang="ko-KR" sz="1600" dirty="0"/>
              <a:t> </a:t>
            </a:r>
            <a:r>
              <a:rPr lang="ko-KR" altLang="en-US" sz="1600" dirty="0"/>
              <a:t>칼럼 이름 </a:t>
            </a:r>
            <a:endParaRPr lang="en-US" altLang="ko-KR" sz="160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094227" y="4005064"/>
            <a:ext cx="5760640" cy="20162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SELECT  </a:t>
            </a:r>
            <a:r>
              <a:rPr lang="ko-KR" altLang="en-US" sz="1600" dirty="0"/>
              <a:t>그룹함수 </a:t>
            </a:r>
            <a:r>
              <a:rPr lang="en-US" altLang="ko-KR" sz="1600" dirty="0"/>
              <a:t>(</a:t>
            </a:r>
            <a:r>
              <a:rPr lang="ko-KR" altLang="en-US" sz="1600" dirty="0"/>
              <a:t>칼럼이름</a:t>
            </a:r>
            <a:r>
              <a:rPr lang="en-US" altLang="ko-KR" sz="1600" dirty="0"/>
              <a:t>) </a:t>
            </a:r>
            <a:r>
              <a:rPr lang="en-US" altLang="ko-KR" sz="1600" b="1" dirty="0"/>
              <a:t>FROM</a:t>
            </a:r>
            <a:r>
              <a:rPr lang="en-US" altLang="ko-KR" sz="1600" dirty="0"/>
              <a:t>  </a:t>
            </a:r>
            <a:r>
              <a:rPr lang="ko-KR" altLang="en-US" sz="1600" dirty="0"/>
              <a:t>테이블 이름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dirty="0"/>
              <a:t>    [WHERE  </a:t>
            </a:r>
            <a:r>
              <a:rPr lang="ko-KR" altLang="en-US" sz="1600" dirty="0" err="1"/>
              <a:t>조건식</a:t>
            </a:r>
            <a:r>
              <a:rPr lang="en-US" altLang="ko-KR" sz="1600" dirty="0"/>
              <a:t>]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GROUP BY</a:t>
            </a:r>
            <a:r>
              <a:rPr lang="en-US" altLang="ko-KR" sz="1600" dirty="0"/>
              <a:t> </a:t>
            </a:r>
            <a:r>
              <a:rPr lang="ko-KR" altLang="en-US" sz="1600" dirty="0"/>
              <a:t>칼럼 이름 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dirty="0"/>
              <a:t>    </a:t>
            </a:r>
            <a:r>
              <a:rPr lang="en-US" altLang="ko-KR" sz="1600" b="1" dirty="0"/>
              <a:t>HAVING</a:t>
            </a:r>
            <a:r>
              <a:rPr lang="en-US" altLang="ko-KR" sz="1600" dirty="0"/>
              <a:t>  </a:t>
            </a:r>
            <a:r>
              <a:rPr lang="ko-KR" altLang="en-US" sz="1600" dirty="0" err="1"/>
              <a:t>조건식</a:t>
            </a:r>
            <a:endParaRPr lang="en-US" altLang="ko-KR" sz="1600" dirty="0"/>
          </a:p>
        </p:txBody>
      </p:sp>
      <p:sp>
        <p:nvSpPr>
          <p:cNvPr id="5" name="직사각형 4"/>
          <p:cNvSpPr/>
          <p:nvPr/>
        </p:nvSpPr>
        <p:spPr>
          <a:xfrm>
            <a:off x="1119986" y="3501008"/>
            <a:ext cx="7412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HAVING </a:t>
            </a:r>
            <a:r>
              <a:rPr lang="ko-KR" altLang="en-US" b="1" dirty="0"/>
              <a:t>절</a:t>
            </a:r>
            <a:r>
              <a:rPr lang="ko-KR" altLang="en-US" dirty="0"/>
              <a:t>은 </a:t>
            </a:r>
            <a:r>
              <a:rPr lang="en-US" altLang="ko-KR" dirty="0"/>
              <a:t>GROUP BY </a:t>
            </a:r>
            <a:r>
              <a:rPr lang="ko-KR" altLang="en-US" dirty="0"/>
              <a:t>질의 결과 나타내는 그룹을 제한하는 역할</a:t>
            </a:r>
          </a:p>
        </p:txBody>
      </p:sp>
    </p:spTree>
    <p:extLst>
      <p:ext uri="{BB962C8B-B14F-4D97-AF65-F5344CB8AC3E}">
        <p14:creationId xmlns:p14="http://schemas.microsoft.com/office/powerpoint/2010/main" val="1526380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SELECT – </a:t>
            </a:r>
            <a:r>
              <a:rPr lang="ko-KR" altLang="en-US" dirty="0"/>
              <a:t>자료 검색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93" y="1268760"/>
            <a:ext cx="7460627" cy="32403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99592" y="4725144"/>
            <a:ext cx="727280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C00000"/>
                </a:solidFill>
              </a:rPr>
              <a:t>※ </a:t>
            </a:r>
            <a:r>
              <a:rPr lang="ko-KR" altLang="en-US" dirty="0">
                <a:solidFill>
                  <a:srgbClr val="C00000"/>
                </a:solidFill>
              </a:rPr>
              <a:t>주의사항</a:t>
            </a:r>
            <a:endParaRPr lang="en-US" altLang="ko-KR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/>
              <a:t>GROPU BY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투플을</a:t>
            </a:r>
            <a:r>
              <a:rPr lang="ko-KR" altLang="en-US" sz="1600" dirty="0"/>
              <a:t> 그룹으로 묶은 후 </a:t>
            </a:r>
            <a:r>
              <a:rPr lang="en-US" altLang="ko-KR" sz="1600" dirty="0"/>
              <a:t>SELECT </a:t>
            </a:r>
            <a:r>
              <a:rPr lang="ko-KR" altLang="en-US" sz="1600" dirty="0"/>
              <a:t>절에는 </a:t>
            </a:r>
            <a:r>
              <a:rPr lang="en-US" altLang="ko-KR" sz="1600" dirty="0"/>
              <a:t>GROUP BY</a:t>
            </a:r>
            <a:r>
              <a:rPr lang="ko-KR" altLang="en-US" sz="1600" dirty="0"/>
              <a:t>에서 사용한 속성과 </a:t>
            </a:r>
            <a:r>
              <a:rPr lang="ko-KR" altLang="en-US" sz="1600" dirty="0" err="1"/>
              <a:t>집계함수만</a:t>
            </a:r>
            <a:r>
              <a:rPr lang="ko-KR" altLang="en-US" sz="1600" dirty="0"/>
              <a:t> 나올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50568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27584" y="1844824"/>
            <a:ext cx="6912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모든 고객의 이름과 주소를 검색하시오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모든 고객의 이름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, </a:t>
            </a:r>
            <a:r>
              <a:rPr lang="ko-KR" altLang="en-US" dirty="0"/>
              <a:t>전화번호를 검색하시오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주소가 </a:t>
            </a:r>
            <a:r>
              <a:rPr lang="en-US" altLang="ko-KR" dirty="0"/>
              <a:t>＇</a:t>
            </a:r>
            <a:r>
              <a:rPr lang="ko-KR" altLang="en-US" dirty="0"/>
              <a:t>영국</a:t>
            </a:r>
            <a:r>
              <a:rPr lang="en-US" altLang="ko-KR" dirty="0"/>
              <a:t>’</a:t>
            </a:r>
            <a:r>
              <a:rPr lang="ko-KR" altLang="en-US" dirty="0"/>
              <a:t>인 고객을 검색하시오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고객의 이름이 </a:t>
            </a:r>
            <a:r>
              <a:rPr lang="en-US" altLang="ko-KR" dirty="0"/>
              <a:t>'</a:t>
            </a:r>
            <a:r>
              <a:rPr lang="ko-KR" altLang="en-US" dirty="0"/>
              <a:t>김연아</a:t>
            </a:r>
            <a:r>
              <a:rPr lang="en-US" altLang="ko-KR" dirty="0"/>
              <a:t>' </a:t>
            </a:r>
            <a:r>
              <a:rPr lang="ko-KR" altLang="en-US" dirty="0"/>
              <a:t>혹은 </a:t>
            </a:r>
            <a:r>
              <a:rPr lang="en-US" altLang="ko-KR" dirty="0"/>
              <a:t>'</a:t>
            </a:r>
            <a:r>
              <a:rPr lang="ko-KR" altLang="en-US" dirty="0"/>
              <a:t>안산</a:t>
            </a:r>
            <a:r>
              <a:rPr lang="en-US" altLang="ko-KR" dirty="0"/>
              <a:t>'</a:t>
            </a:r>
            <a:r>
              <a:rPr lang="ko-KR" altLang="en-US" dirty="0"/>
              <a:t>인 고객을 검색하시오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주소가 </a:t>
            </a:r>
            <a:r>
              <a:rPr lang="en-US" altLang="ko-KR" dirty="0"/>
              <a:t>'</a:t>
            </a:r>
            <a:r>
              <a:rPr lang="ko-KR" altLang="en-US" dirty="0"/>
              <a:t>대한민국</a:t>
            </a:r>
            <a:r>
              <a:rPr lang="en-US" altLang="ko-KR" dirty="0"/>
              <a:t>'</a:t>
            </a:r>
            <a:r>
              <a:rPr lang="ko-KR" altLang="en-US" dirty="0"/>
              <a:t>이 아닌 고객을 검색하시오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전화번호가 없는 고객을 검색하시오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고객을 이름순으로 정렬하시오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고객의 총 인원수를 구하시오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576" y="1242473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마당 서점의 고객 테이블을 검색하시오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9334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96752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조인이란</a:t>
            </a:r>
            <a:r>
              <a:rPr lang="en-US" altLang="ko-KR" sz="2000" b="1" dirty="0"/>
              <a:t>?</a:t>
            </a:r>
            <a:endParaRPr lang="ko-KR" alt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79308" y="1556792"/>
            <a:ext cx="748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조인은 한 개 이상의 테이블과 테이블을 서로 연결하여 사용하는 기법을 말한다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동등조인</a:t>
            </a:r>
            <a:r>
              <a:rPr lang="en-US" altLang="ko-KR" sz="1600" dirty="0"/>
              <a:t>, </a:t>
            </a:r>
            <a:r>
              <a:rPr lang="ko-KR" altLang="en-US" sz="1600" dirty="0"/>
              <a:t>외부 조인</a:t>
            </a:r>
            <a:r>
              <a:rPr lang="en-US" altLang="ko-KR" sz="1600" dirty="0"/>
              <a:t>, </a:t>
            </a:r>
            <a:r>
              <a:rPr lang="ko-KR" altLang="en-US" sz="1600" dirty="0"/>
              <a:t>자체 </a:t>
            </a:r>
            <a:r>
              <a:rPr lang="ko-KR" altLang="en-US" sz="1600" dirty="0" err="1"/>
              <a:t>조인등이</a:t>
            </a:r>
            <a:r>
              <a:rPr lang="ko-KR" altLang="en-US" sz="1600" dirty="0"/>
              <a:t>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graphicFrame>
        <p:nvGraphicFramePr>
          <p:cNvPr id="7" name="내용 개체 틀 4"/>
          <p:cNvGraphicFramePr>
            <a:graphicFrameLocks/>
          </p:cNvGraphicFramePr>
          <p:nvPr>
            <p:extLst/>
          </p:nvPr>
        </p:nvGraphicFramePr>
        <p:xfrm>
          <a:off x="915312" y="2420888"/>
          <a:ext cx="7473112" cy="1409205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137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5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2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조인 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개념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동등 조인</a:t>
                      </a:r>
                      <a:r>
                        <a:rPr lang="en-US" altLang="ko-KR" sz="1600" dirty="0"/>
                        <a:t>(</a:t>
                      </a:r>
                      <a:r>
                        <a:rPr lang="en-US" altLang="ko-KR" sz="1600" dirty="0" err="1"/>
                        <a:t>equi</a:t>
                      </a:r>
                      <a:r>
                        <a:rPr lang="en-US" altLang="ko-KR" sz="1600" dirty="0"/>
                        <a:t> join)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aseline="0" dirty="0"/>
                        <a:t> 조인 조건이 정확히 일치하는 경우에 결과를 출력</a:t>
                      </a:r>
                      <a:r>
                        <a:rPr lang="ko-KR" altLang="en-US" sz="16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외부 조인</a:t>
                      </a:r>
                      <a:r>
                        <a:rPr lang="en-US" altLang="ko-KR" sz="1600" dirty="0"/>
                        <a:t>(outer join)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조인 조건이 정확히 일치하지 않아도 모든 결과를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자체 조인</a:t>
                      </a:r>
                      <a:r>
                        <a:rPr lang="en-US" altLang="ko-KR" sz="1600" dirty="0"/>
                        <a:t>(self join)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자체 테이블에서 조인하고자 할 때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1331640" y="4365104"/>
            <a:ext cx="5976664" cy="13681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SELECT  </a:t>
            </a:r>
            <a:r>
              <a:rPr lang="ko-KR" altLang="en-US" sz="1600" dirty="0"/>
              <a:t>테이블이름</a:t>
            </a:r>
            <a:r>
              <a:rPr lang="en-US" altLang="ko-KR" sz="1600" dirty="0"/>
              <a:t>1.</a:t>
            </a:r>
            <a:r>
              <a:rPr lang="ko-KR" altLang="en-US" sz="1600" dirty="0"/>
              <a:t>열 이름</a:t>
            </a:r>
            <a:r>
              <a:rPr lang="en-US" altLang="ko-KR" sz="1600" dirty="0"/>
              <a:t>1, </a:t>
            </a:r>
            <a:r>
              <a:rPr lang="ko-KR" altLang="en-US" sz="1600" dirty="0"/>
              <a:t>테이블이름</a:t>
            </a:r>
            <a:r>
              <a:rPr lang="en-US" altLang="ko-KR" sz="1600" dirty="0"/>
              <a:t>2.</a:t>
            </a:r>
            <a:r>
              <a:rPr lang="ko-KR" altLang="en-US" sz="1600" dirty="0"/>
              <a:t>열 이름</a:t>
            </a:r>
            <a:r>
              <a:rPr lang="en-US" altLang="ko-KR" sz="1600" dirty="0"/>
              <a:t>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/>
              <a:t>  FROM </a:t>
            </a:r>
            <a:r>
              <a:rPr lang="ko-KR" altLang="en-US" sz="1600" dirty="0"/>
              <a:t>테이블 이름 </a:t>
            </a:r>
            <a:r>
              <a:rPr lang="en-US" altLang="ko-KR" sz="1600" dirty="0"/>
              <a:t>1, </a:t>
            </a:r>
            <a:r>
              <a:rPr lang="ko-KR" altLang="en-US" sz="1600" dirty="0"/>
              <a:t>테이블 이름</a:t>
            </a:r>
            <a:r>
              <a:rPr lang="en-US" altLang="ko-KR" sz="1600" dirty="0"/>
              <a:t>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/>
              <a:t>  </a:t>
            </a:r>
            <a:r>
              <a:rPr lang="en-US" altLang="ko-KR" sz="1600" b="1" dirty="0"/>
              <a:t>WHERE </a:t>
            </a:r>
            <a:r>
              <a:rPr lang="ko-KR" altLang="en-US" sz="1600" dirty="0"/>
              <a:t>테이블 이름 </a:t>
            </a:r>
            <a:r>
              <a:rPr lang="en-US" altLang="ko-KR" sz="1600" dirty="0"/>
              <a:t>1.</a:t>
            </a:r>
            <a:r>
              <a:rPr lang="ko-KR" altLang="en-US" sz="1600" dirty="0"/>
              <a:t>열 이름</a:t>
            </a:r>
            <a:r>
              <a:rPr lang="en-US" altLang="ko-KR" sz="1600" dirty="0"/>
              <a:t>1 = </a:t>
            </a:r>
            <a:r>
              <a:rPr lang="ko-KR" altLang="en-US" sz="1600" dirty="0"/>
              <a:t>테이블 이름</a:t>
            </a:r>
            <a:r>
              <a:rPr lang="en-US" altLang="ko-KR" sz="1600" dirty="0"/>
              <a:t>2.</a:t>
            </a:r>
            <a:r>
              <a:rPr lang="ko-KR" altLang="en-US" sz="1600" dirty="0"/>
              <a:t>열 이름 </a:t>
            </a:r>
            <a:r>
              <a:rPr lang="en-US" altLang="ko-KR" sz="1600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576" y="393305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 </a:t>
            </a:r>
            <a:r>
              <a:rPr lang="ko-KR" altLang="en-US" b="1" dirty="0"/>
              <a:t>문법 규칙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427984" y="5301208"/>
            <a:ext cx="360041" cy="36003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287806" y="5589240"/>
            <a:ext cx="3622322" cy="604444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ysClr val="windowText" lastClr="000000"/>
                </a:solidFill>
              </a:rPr>
              <a:t>두 테이블의 열이 갖고 있는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데이터값을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논리적으로 연결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4788025" y="5661247"/>
            <a:ext cx="482133" cy="18002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66698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052736"/>
            <a:ext cx="80648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동등 조인</a:t>
            </a:r>
            <a:r>
              <a:rPr lang="en-US" altLang="ko-KR" b="1" dirty="0"/>
              <a:t>(</a:t>
            </a:r>
            <a:r>
              <a:rPr lang="en-US" altLang="ko-KR" b="1" dirty="0" err="1"/>
              <a:t>equi</a:t>
            </a:r>
            <a:r>
              <a:rPr lang="en-US" altLang="ko-KR" b="1" dirty="0"/>
              <a:t> join or inner join)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양쪽 테이블에서 조인 조건이 일치하는 행만 가져오는 조인으로 </a:t>
            </a:r>
            <a:r>
              <a:rPr lang="ko-KR" altLang="en-US" sz="1600" dirty="0" err="1"/>
              <a:t>기본키와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외래키의</a:t>
            </a:r>
            <a:r>
              <a:rPr lang="ko-KR" altLang="en-US" sz="1600" dirty="0"/>
              <a:t> 관계를 이용하여 조인하기도 하고 키가 아니더라도 다양한 조건으로 조인할 수 있다</a:t>
            </a:r>
            <a:r>
              <a:rPr lang="en-US" altLang="ko-KR" sz="1600" dirty="0"/>
              <a:t>.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01" y="3933056"/>
            <a:ext cx="6766469" cy="19265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01" y="2492896"/>
            <a:ext cx="4724322" cy="11465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4193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268759"/>
            <a:ext cx="5472608" cy="13913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268759"/>
            <a:ext cx="1512168" cy="2124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393171"/>
            <a:ext cx="5226840" cy="1512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5085184"/>
            <a:ext cx="7254869" cy="9297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9625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57" y="1412776"/>
            <a:ext cx="6040796" cy="1512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933056"/>
            <a:ext cx="5249189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71599" y="3356992"/>
            <a:ext cx="5321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◆ </a:t>
            </a:r>
            <a:r>
              <a:rPr lang="en-US" altLang="ko-KR" dirty="0"/>
              <a:t>3</a:t>
            </a:r>
            <a:r>
              <a:rPr lang="ko-KR" altLang="en-US" dirty="0"/>
              <a:t>개의 테이블 조인</a:t>
            </a:r>
          </a:p>
        </p:txBody>
      </p:sp>
    </p:spTree>
    <p:extLst>
      <p:ext uri="{BB962C8B-B14F-4D97-AF65-F5344CB8AC3E}">
        <p14:creationId xmlns:p14="http://schemas.microsoft.com/office/powerpoint/2010/main" val="2193627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55576" y="1111677"/>
            <a:ext cx="80648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INNER JOIN ~ ON(FROM </a:t>
            </a:r>
            <a:r>
              <a:rPr lang="ko-KR" altLang="en-US" b="1" dirty="0"/>
              <a:t>절에서 사용</a:t>
            </a:r>
            <a:r>
              <a:rPr lang="en-US" altLang="ko-KR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STANDARD JOIN</a:t>
            </a:r>
            <a:r>
              <a:rPr lang="ko-KR" altLang="en-US" sz="1600" dirty="0"/>
              <a:t>의 하나로 표준이 되는 </a:t>
            </a:r>
            <a:r>
              <a:rPr lang="en-US" altLang="ko-KR" sz="1600" dirty="0"/>
              <a:t>ANSI SQL</a:t>
            </a:r>
            <a:r>
              <a:rPr lang="ko-KR" altLang="en-US" sz="1600" dirty="0"/>
              <a:t>을 지정하여 </a:t>
            </a:r>
            <a:r>
              <a:rPr lang="en-US" altLang="ko-KR" sz="1600" dirty="0"/>
              <a:t>Oracle</a:t>
            </a:r>
            <a:r>
              <a:rPr lang="ko-KR" altLang="en-US" sz="1600" dirty="0"/>
              <a:t>이든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err="1"/>
              <a:t>MySql</a:t>
            </a:r>
            <a:r>
              <a:rPr lang="ko-KR" altLang="en-US" sz="1600" dirty="0"/>
              <a:t>이든 모든 </a:t>
            </a:r>
            <a:r>
              <a:rPr lang="en-US" altLang="ko-KR" sz="1600" dirty="0"/>
              <a:t>DBMS</a:t>
            </a:r>
            <a:r>
              <a:rPr lang="ko-KR" altLang="en-US" sz="1600" dirty="0"/>
              <a:t>에서 사용 가능하다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Join </a:t>
            </a:r>
            <a:r>
              <a:rPr lang="ko-KR" altLang="en-US" sz="1600" dirty="0"/>
              <a:t>조건에 충족되는 데이터만 출력되는 방식이다</a:t>
            </a:r>
            <a:r>
              <a:rPr lang="en-US" altLang="ko-KR" sz="1600" dirty="0"/>
              <a:t>.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969916"/>
            <a:ext cx="1784628" cy="20891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448145"/>
            <a:ext cx="5367153" cy="1440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타원 8"/>
          <p:cNvSpPr/>
          <p:nvPr/>
        </p:nvSpPr>
        <p:spPr>
          <a:xfrm>
            <a:off x="2042811" y="2938659"/>
            <a:ext cx="1512168" cy="127756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3131840" y="2943528"/>
            <a:ext cx="1512168" cy="127756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348660" y="3280115"/>
            <a:ext cx="774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Left table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3716812" y="3280115"/>
            <a:ext cx="774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Right table</a:t>
            </a:r>
            <a:endParaRPr lang="ko-KR" altLang="en-US" sz="1400" dirty="0"/>
          </a:p>
        </p:txBody>
      </p:sp>
      <p:sp>
        <p:nvSpPr>
          <p:cNvPr id="13" name="타원 12"/>
          <p:cNvSpPr/>
          <p:nvPr/>
        </p:nvSpPr>
        <p:spPr>
          <a:xfrm>
            <a:off x="3131840" y="3140968"/>
            <a:ext cx="423139" cy="86409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667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55576" y="1111677"/>
            <a:ext cx="80648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OUTER JOIN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JOIN </a:t>
            </a:r>
            <a:r>
              <a:rPr lang="ko-KR" altLang="en-US" sz="1600" dirty="0"/>
              <a:t>조건에 충족하는 데이터가 아니어도 출력될 수 있는 방식이다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WHERE </a:t>
            </a:r>
            <a:r>
              <a:rPr lang="ko-KR" altLang="en-US" sz="1600" dirty="0"/>
              <a:t>절에서 </a:t>
            </a:r>
            <a:r>
              <a:rPr lang="en-US" altLang="ko-KR" sz="1600" dirty="0"/>
              <a:t>(+) </a:t>
            </a:r>
            <a:r>
              <a:rPr lang="ko-KR" altLang="en-US" sz="1600" dirty="0"/>
              <a:t>사용</a:t>
            </a:r>
            <a:r>
              <a:rPr lang="en-US" altLang="ko-KR" sz="1600" dirty="0"/>
              <a:t>  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모든 행이 출력되는 테이블의 반대편 테이블의 옆에 </a:t>
            </a:r>
            <a:r>
              <a:rPr lang="en-US" altLang="ko-KR" sz="1600" dirty="0"/>
              <a:t>(+) </a:t>
            </a:r>
            <a:r>
              <a:rPr lang="ko-KR" altLang="en-US" sz="1600" dirty="0"/>
              <a:t>기호를 붙여준다</a:t>
            </a:r>
            <a:r>
              <a:rPr lang="en-US" altLang="ko-KR" sz="1600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307416"/>
            <a:ext cx="6408975" cy="15698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330" y="3861048"/>
            <a:ext cx="1575270" cy="20613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8" name="그룹 7"/>
          <p:cNvGrpSpPr/>
          <p:nvPr/>
        </p:nvGrpSpPr>
        <p:grpSpPr>
          <a:xfrm>
            <a:off x="2339752" y="2899328"/>
            <a:ext cx="2601197" cy="1282429"/>
            <a:chOff x="2114819" y="2780928"/>
            <a:chExt cx="2601197" cy="1282429"/>
          </a:xfrm>
        </p:grpSpPr>
        <p:sp>
          <p:nvSpPr>
            <p:cNvPr id="10" name="타원 9"/>
            <p:cNvSpPr/>
            <p:nvPr/>
          </p:nvSpPr>
          <p:spPr>
            <a:xfrm>
              <a:off x="2114819" y="2780928"/>
              <a:ext cx="1512168" cy="12775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3203848" y="2785797"/>
              <a:ext cx="1512168" cy="127756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20668" y="3122384"/>
              <a:ext cx="774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Left table</a:t>
              </a:r>
              <a:endParaRPr lang="ko-KR" altLang="en-US" sz="1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88820" y="3122384"/>
              <a:ext cx="774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Right table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37612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55576" y="1111677"/>
            <a:ext cx="80648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OUTER JOIN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JOIN </a:t>
            </a:r>
            <a:r>
              <a:rPr lang="ko-KR" altLang="en-US" sz="1600" dirty="0"/>
              <a:t>조건에 충족하는 데이터가 아니어도 출력될 수 있는 방식이다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LEFT OUTER JOIN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FROM</a:t>
            </a:r>
            <a:r>
              <a:rPr lang="ko-KR" altLang="en-US" sz="1600" dirty="0"/>
              <a:t>절 </a:t>
            </a:r>
            <a:r>
              <a:rPr lang="en-US" altLang="ko-KR" sz="1600" dirty="0"/>
              <a:t>: LEFT OUTER JOIN ~ ON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439126"/>
            <a:ext cx="6530906" cy="14707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661" y="3717032"/>
            <a:ext cx="1675754" cy="21928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10" name="그룹 9"/>
          <p:cNvGrpSpPr/>
          <p:nvPr/>
        </p:nvGrpSpPr>
        <p:grpSpPr>
          <a:xfrm>
            <a:off x="2339752" y="2899328"/>
            <a:ext cx="2601197" cy="1282429"/>
            <a:chOff x="2114819" y="2780928"/>
            <a:chExt cx="2601197" cy="1282429"/>
          </a:xfrm>
        </p:grpSpPr>
        <p:sp>
          <p:nvSpPr>
            <p:cNvPr id="11" name="타원 10"/>
            <p:cNvSpPr/>
            <p:nvPr/>
          </p:nvSpPr>
          <p:spPr>
            <a:xfrm>
              <a:off x="2114819" y="2780928"/>
              <a:ext cx="1512168" cy="12775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3203848" y="2785797"/>
              <a:ext cx="1512168" cy="127756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20668" y="3122384"/>
              <a:ext cx="774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Left table</a:t>
              </a:r>
              <a:endParaRPr lang="ko-KR" altLang="en-US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88820" y="3122384"/>
              <a:ext cx="774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Right table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78069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서브 쿼리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11560" y="1125496"/>
            <a:ext cx="8424936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서브 쿼리</a:t>
            </a:r>
            <a:r>
              <a:rPr lang="en-US" altLang="ko-KR" b="1" dirty="0"/>
              <a:t>(Sub-Query)</a:t>
            </a:r>
            <a:r>
              <a:rPr lang="ko-KR" altLang="en-US" b="1" dirty="0"/>
              <a:t>란 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부속 질의</a:t>
            </a:r>
            <a:r>
              <a:rPr lang="ko-KR" altLang="en-US" sz="1600" dirty="0"/>
              <a:t>는 하나의 </a:t>
            </a:r>
            <a:r>
              <a:rPr lang="en-US" altLang="ko-KR" sz="1600" dirty="0"/>
              <a:t>SQL</a:t>
            </a:r>
            <a:r>
              <a:rPr lang="ko-KR" altLang="en-US" sz="1600" dirty="0"/>
              <a:t>문 안에 다른 </a:t>
            </a:r>
            <a:r>
              <a:rPr lang="en-US" altLang="ko-KR" sz="1600" dirty="0"/>
              <a:t>SQL</a:t>
            </a:r>
            <a:r>
              <a:rPr lang="ko-KR" altLang="en-US" sz="1600" dirty="0"/>
              <a:t>문이 중첩된 질의를 말한다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다른 테이블에서 가져온 데이터로 현재 테이블에 있는 정보를 찾거나 가공할 때 사용한다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최종 결과를 출력하는 쿼리를 메인 쿼리라고 한다면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위한 중간단계 혹은 보조 역할을 하는 </a:t>
            </a:r>
            <a:r>
              <a:rPr lang="en-US" altLang="ko-KR" sz="1600" dirty="0"/>
              <a:t>SELECT</a:t>
            </a:r>
            <a:r>
              <a:rPr lang="ko-KR" altLang="en-US" sz="1600" dirty="0"/>
              <a:t>문을 서브 쿼리라 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27483" y="3284984"/>
            <a:ext cx="2940461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WHERE </a:t>
            </a:r>
            <a:r>
              <a:rPr lang="ko-KR" altLang="en-US" dirty="0"/>
              <a:t>절 </a:t>
            </a:r>
            <a:r>
              <a:rPr lang="ko-KR" altLang="en-US" dirty="0" err="1"/>
              <a:t>부속질의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인라인 뷰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스칼라 </a:t>
            </a:r>
            <a:r>
              <a:rPr lang="ko-KR" altLang="en-US" dirty="0" err="1"/>
              <a:t>부속질의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8412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서브 쿼리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573016"/>
            <a:ext cx="1615580" cy="4877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67443" y="1297106"/>
            <a:ext cx="294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WHERE </a:t>
            </a:r>
            <a:r>
              <a:rPr lang="ko-KR" altLang="en-US" dirty="0"/>
              <a:t>절 부속질의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68" y="3121238"/>
            <a:ext cx="4747671" cy="29720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43608" y="1700808"/>
            <a:ext cx="7344816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WHERE </a:t>
            </a:r>
            <a:r>
              <a:rPr lang="ko-KR" altLang="en-US" sz="1600" dirty="0"/>
              <a:t>절에 또 다른 테이블 결과를 이용하기 다시 </a:t>
            </a:r>
            <a:r>
              <a:rPr lang="en-US" altLang="ko-KR" sz="1600" dirty="0"/>
              <a:t>SELECT </a:t>
            </a:r>
            <a:r>
              <a:rPr lang="ko-KR" altLang="en-US" sz="1600" dirty="0"/>
              <a:t>문을 괄호로 묶는 것을 </a:t>
            </a:r>
            <a:r>
              <a:rPr lang="ko-KR" altLang="en-US" sz="1600" dirty="0" err="1"/>
              <a:t>부속질의라</a:t>
            </a:r>
            <a:r>
              <a:rPr lang="ko-KR" altLang="en-US" sz="1600" dirty="0"/>
              <a:t> 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순서는 </a:t>
            </a:r>
            <a:r>
              <a:rPr lang="en-US" altLang="ko-KR" sz="1600" dirty="0"/>
              <a:t>WHERE</a:t>
            </a:r>
            <a:r>
              <a:rPr lang="ko-KR" altLang="en-US" sz="1600" dirty="0"/>
              <a:t>절의 부속 질의를 먼저 처리하고 전체 질의를 처리한다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26940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서브 쿼리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636912"/>
            <a:ext cx="911909" cy="12728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844822"/>
            <a:ext cx="4762913" cy="31244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7558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서브 쿼리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12776"/>
            <a:ext cx="5121084" cy="2682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509120"/>
            <a:ext cx="4275190" cy="6553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9766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서브 쿼리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91274"/>
            <a:ext cx="6050805" cy="21261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5" y="2624222"/>
            <a:ext cx="746825" cy="7696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789040"/>
            <a:ext cx="5486876" cy="19889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4939759"/>
            <a:ext cx="1104996" cy="8382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84718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서브 쿼리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56793" y="1228110"/>
            <a:ext cx="708896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 err="1"/>
              <a:t>인라인</a:t>
            </a:r>
            <a:r>
              <a:rPr lang="ko-KR" altLang="en-US" dirty="0"/>
              <a:t> </a:t>
            </a:r>
            <a:r>
              <a:rPr lang="ko-KR" altLang="en-US" dirty="0" err="1"/>
              <a:t>뷰</a:t>
            </a:r>
            <a:r>
              <a:rPr lang="ko-KR" altLang="en-US" dirty="0"/>
              <a:t> </a:t>
            </a:r>
            <a:r>
              <a:rPr lang="en-US" altLang="ko-KR" dirty="0"/>
              <a:t>– FROM </a:t>
            </a:r>
            <a:r>
              <a:rPr lang="ko-KR" altLang="en-US" dirty="0"/>
              <a:t>부속질의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ko-KR" altLang="en-US" sz="1600" dirty="0" err="1"/>
              <a:t>인라인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뷰는</a:t>
            </a:r>
            <a:r>
              <a:rPr lang="ko-KR" altLang="en-US" sz="1600" dirty="0"/>
              <a:t> </a:t>
            </a:r>
            <a:r>
              <a:rPr lang="en-US" altLang="ko-KR" sz="1600" dirty="0"/>
              <a:t>FROM </a:t>
            </a:r>
            <a:r>
              <a:rPr lang="ko-KR" altLang="en-US" sz="1600" dirty="0"/>
              <a:t>절에서 사용되는 부속질의를 말한다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</a:t>
            </a:r>
            <a:r>
              <a:rPr lang="ko-KR" altLang="en-US" sz="1600" dirty="0" err="1"/>
              <a:t>뷰는</a:t>
            </a:r>
            <a:r>
              <a:rPr lang="ko-KR" altLang="en-US" sz="1600" dirty="0"/>
              <a:t> 기존 테이블로부터 일시적으로  만들어진 가상의 </a:t>
            </a:r>
            <a:r>
              <a:rPr lang="ko-KR" altLang="en-US" sz="1600" dirty="0" err="1"/>
              <a:t>데이블이다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97"/>
          <a:stretch/>
        </p:blipFill>
        <p:spPr>
          <a:xfrm>
            <a:off x="1215137" y="2708920"/>
            <a:ext cx="6830618" cy="21679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381" y="5157192"/>
            <a:ext cx="1318374" cy="6706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73002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서브 쿼리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56793" y="1228110"/>
            <a:ext cx="708896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스칼라 </a:t>
            </a:r>
            <a:r>
              <a:rPr lang="ko-KR" altLang="en-US" dirty="0" err="1"/>
              <a:t>부속질의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   </a:t>
            </a:r>
            <a:r>
              <a:rPr lang="en-US" altLang="ko-KR" sz="1600" dirty="0"/>
              <a:t>SELECT </a:t>
            </a:r>
            <a:r>
              <a:rPr lang="ko-KR" altLang="en-US" sz="1600" dirty="0"/>
              <a:t>절에서 사용되는 </a:t>
            </a:r>
            <a:r>
              <a:rPr lang="ko-KR" altLang="en-US" sz="1600" dirty="0" err="1"/>
              <a:t>부속질의로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부속질의의</a:t>
            </a:r>
            <a:r>
              <a:rPr lang="ko-KR" altLang="en-US" sz="1600" dirty="0"/>
              <a:t> 결과 값을 </a:t>
            </a:r>
            <a:r>
              <a:rPr lang="ko-KR" altLang="en-US" sz="1600" dirty="0" err="1"/>
              <a:t>단일행</a:t>
            </a:r>
            <a:r>
              <a:rPr lang="en-US" altLang="ko-KR" sz="1600" dirty="0"/>
              <a:t>, </a:t>
            </a:r>
            <a:r>
              <a:rPr lang="ko-KR" altLang="en-US" sz="1600" dirty="0"/>
              <a:t>단일 열의 스칼라 값으로 반환한다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636912"/>
            <a:ext cx="6561389" cy="16460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855" y="4005064"/>
            <a:ext cx="1737511" cy="10668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90593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뷰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611560" y="980728"/>
            <a:ext cx="6768752" cy="50405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  </a:t>
            </a:r>
            <a:r>
              <a:rPr lang="ko-KR" altLang="en-US" sz="2000" b="1" dirty="0" err="1"/>
              <a:t>뷰</a:t>
            </a:r>
            <a:r>
              <a:rPr lang="en-US" altLang="ko-KR" sz="2000" b="1" dirty="0"/>
              <a:t>(VIEW)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4" y="1484784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뷰는</a:t>
            </a:r>
            <a:r>
              <a:rPr lang="ko-KR" altLang="en-US" sz="1600" dirty="0"/>
              <a:t> 하나 이상의 테이블을 합하여 만든 가상의</a:t>
            </a:r>
            <a:r>
              <a:rPr lang="en-US" altLang="ko-KR" sz="1600" dirty="0"/>
              <a:t> </a:t>
            </a:r>
            <a:r>
              <a:rPr lang="ko-KR" altLang="en-US" sz="1600" dirty="0"/>
              <a:t>테이블로써 실제 테이블처럼 사용할 수 있도록 만든 데이터베이스 개체이다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solidFill>
                  <a:srgbClr val="C00000"/>
                </a:solidFill>
              </a:rPr>
              <a:t>뷰를</a:t>
            </a:r>
            <a:r>
              <a:rPr lang="ko-KR" altLang="en-US" sz="1600" b="1" dirty="0">
                <a:solidFill>
                  <a:srgbClr val="C00000"/>
                </a:solidFill>
              </a:rPr>
              <a:t> 사용하는 이유</a:t>
            </a:r>
            <a:r>
              <a:rPr lang="ko-KR" altLang="en-US" sz="1600" dirty="0"/>
              <a:t>는 원본 테이블의 데이터를 안전하게 유지하면서 필요한 사용자에게 적절한 데이터를 제공</a:t>
            </a:r>
            <a:r>
              <a:rPr lang="en-US" altLang="ko-KR" sz="1600" dirty="0"/>
              <a:t>(</a:t>
            </a:r>
            <a:r>
              <a:rPr lang="ko-KR" altLang="en-US" sz="1600" dirty="0"/>
              <a:t>보고서 형태</a:t>
            </a:r>
            <a:r>
              <a:rPr lang="en-US" altLang="ko-KR" sz="1600" dirty="0"/>
              <a:t>) </a:t>
            </a:r>
            <a:r>
              <a:rPr lang="ko-KR" altLang="en-US" sz="1600" dirty="0"/>
              <a:t>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571190" y="3797762"/>
            <a:ext cx="3324945" cy="10902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  CREATE </a:t>
            </a:r>
            <a:r>
              <a:rPr lang="en-US" altLang="ko-KR" sz="1800" b="1" dirty="0">
                <a:solidFill>
                  <a:srgbClr val="C00000"/>
                </a:solidFill>
              </a:rPr>
              <a:t>VIEW </a:t>
            </a:r>
            <a:r>
              <a:rPr lang="ko-KR" altLang="en-US" sz="1800" b="1" dirty="0" err="1"/>
              <a:t>뷰이름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  AS SELECT </a:t>
            </a:r>
            <a:r>
              <a:rPr lang="ko-KR" altLang="en-US" sz="1800" b="1" dirty="0"/>
              <a:t>문</a:t>
            </a:r>
            <a:endParaRPr lang="en-US" altLang="ko-KR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1571191" y="3236100"/>
            <a:ext cx="1488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뷰의</a:t>
            </a:r>
            <a:r>
              <a:rPr lang="ko-KR" altLang="en-US" sz="2000" b="1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2227979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920" y="1412776"/>
            <a:ext cx="6285422" cy="16561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뷰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750" y="2348880"/>
            <a:ext cx="2122288" cy="1907070"/>
          </a:xfrm>
          <a:prstGeom prst="rect">
            <a:avLst/>
          </a:prstGeom>
        </p:spPr>
      </p:pic>
      <p:sp>
        <p:nvSpPr>
          <p:cNvPr id="12" name="모서리가 둥근 직사각형 11"/>
          <p:cNvSpPr/>
          <p:nvPr/>
        </p:nvSpPr>
        <p:spPr>
          <a:xfrm>
            <a:off x="6259790" y="4005064"/>
            <a:ext cx="2350129" cy="376218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243" y="3299249"/>
            <a:ext cx="2648678" cy="9714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733" y="4523217"/>
            <a:ext cx="4031330" cy="693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933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뷰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066" y="1544216"/>
            <a:ext cx="5040091" cy="24482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212976"/>
            <a:ext cx="2089460" cy="1872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31842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뷰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735" y="2642794"/>
            <a:ext cx="2970381" cy="7337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1331640" y="1916832"/>
            <a:ext cx="3324945" cy="5040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  </a:t>
            </a:r>
            <a:r>
              <a:rPr lang="en-US" altLang="ko-KR" sz="1800" b="1" dirty="0">
                <a:solidFill>
                  <a:srgbClr val="C00000"/>
                </a:solidFill>
              </a:rPr>
              <a:t>DROP</a:t>
            </a:r>
            <a:r>
              <a:rPr lang="en-US" altLang="ko-KR" sz="1800" b="1" dirty="0"/>
              <a:t> VIEW </a:t>
            </a:r>
            <a:r>
              <a:rPr lang="ko-KR" altLang="en-US" sz="1800" b="1" dirty="0" err="1"/>
              <a:t>뷰이름</a:t>
            </a:r>
            <a:r>
              <a:rPr lang="ko-KR" altLang="en-US" sz="1800" b="1" dirty="0"/>
              <a:t> </a:t>
            </a:r>
            <a:endParaRPr lang="en-US" altLang="ko-KR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1252529" y="1340768"/>
            <a:ext cx="1488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err="1"/>
              <a:t>뷰의</a:t>
            </a:r>
            <a:r>
              <a:rPr lang="ko-KR" altLang="en-US" sz="2000" b="1" dirty="0"/>
              <a:t> 삭제</a:t>
            </a:r>
          </a:p>
        </p:txBody>
      </p:sp>
    </p:spTree>
    <p:extLst>
      <p:ext uri="{BB962C8B-B14F-4D97-AF65-F5344CB8AC3E}">
        <p14:creationId xmlns:p14="http://schemas.microsoft.com/office/powerpoint/2010/main" val="4114599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집합 연산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71600" y="1196752"/>
            <a:ext cx="59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집합 연산 </a:t>
            </a:r>
            <a:r>
              <a:rPr lang="en-US" altLang="ko-KR" sz="2000" b="1" dirty="0"/>
              <a:t>– </a:t>
            </a:r>
            <a:r>
              <a:rPr lang="ko-KR" altLang="en-US" sz="2000" dirty="0"/>
              <a:t>고객 이름의 합집합을 구하고 싶다</a:t>
            </a:r>
            <a:r>
              <a:rPr lang="en-US" altLang="ko-KR"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1628800"/>
            <a:ext cx="7643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테이블은 </a:t>
            </a:r>
            <a:r>
              <a:rPr lang="ko-KR" altLang="en-US" sz="1600" dirty="0" err="1"/>
              <a:t>투플의</a:t>
            </a:r>
            <a:r>
              <a:rPr lang="ko-KR" altLang="en-US" sz="1600" dirty="0"/>
              <a:t> 집합이므로 테이블 간이 집합 연산을 이용하여 합집합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차집합</a:t>
            </a:r>
            <a:r>
              <a:rPr lang="en-US" altLang="ko-KR" sz="1600" dirty="0"/>
              <a:t>, </a:t>
            </a:r>
            <a:r>
              <a:rPr lang="ko-KR" altLang="en-US" sz="1600" dirty="0"/>
              <a:t>교집합을 구할 수 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UNION </a:t>
            </a:r>
            <a:r>
              <a:rPr lang="ko-KR" altLang="en-US" sz="1600" dirty="0"/>
              <a:t>연산자는 중복을 포함하지 않고</a:t>
            </a:r>
            <a:r>
              <a:rPr lang="en-US" altLang="ko-KR" sz="1600" dirty="0"/>
              <a:t>, UNION ALL </a:t>
            </a:r>
            <a:r>
              <a:rPr lang="ko-KR" altLang="en-US" sz="1600" dirty="0"/>
              <a:t>연산자는 중복을 포함한다</a:t>
            </a:r>
            <a:r>
              <a:rPr lang="en-US" altLang="ko-KR" sz="1600" dirty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996952"/>
            <a:ext cx="6523285" cy="20194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4551735"/>
            <a:ext cx="1074513" cy="12650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0024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집합 연산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71600" y="1196752"/>
            <a:ext cx="59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집합 연산 </a:t>
            </a:r>
            <a:r>
              <a:rPr lang="en-US" altLang="ko-KR" sz="2000" b="1" dirty="0"/>
              <a:t>– </a:t>
            </a:r>
            <a:r>
              <a:rPr lang="ko-KR" altLang="en-US" dirty="0"/>
              <a:t>고객 이름의 합집합을 구하고 싶다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937429"/>
            <a:ext cx="6576630" cy="21718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320578"/>
            <a:ext cx="1074513" cy="15774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8811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집합 연산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71600" y="1196752"/>
            <a:ext cx="59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EXISTS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– </a:t>
            </a:r>
            <a:r>
              <a:rPr lang="ko-KR" altLang="en-US" dirty="0"/>
              <a:t>주문이 있는 고객을 알고 싶다</a:t>
            </a:r>
            <a:r>
              <a:rPr lang="en-US" altLang="ko-KR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1628800"/>
            <a:ext cx="7643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조건에 맞는 </a:t>
            </a:r>
            <a:r>
              <a:rPr lang="ko-KR" altLang="en-US" sz="1600" dirty="0" err="1"/>
              <a:t>투플이</a:t>
            </a:r>
            <a:r>
              <a:rPr lang="ko-KR" altLang="en-US" sz="1600" dirty="0"/>
              <a:t> 존재하면 결과에 포함시킨다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즉 부속질의문의 어떤 행이 조건에 만족하면 참이다</a:t>
            </a:r>
            <a:r>
              <a:rPr lang="en-US" altLang="ko-KR" sz="1600" dirty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636912"/>
            <a:ext cx="5006774" cy="16765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938362"/>
            <a:ext cx="2720576" cy="10364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572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집합 연산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71600" y="1196752"/>
            <a:ext cx="59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EXISTS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– </a:t>
            </a:r>
            <a:r>
              <a:rPr lang="ko-KR" altLang="en-US" dirty="0"/>
              <a:t>주문이 있는 고객을 알고 싶다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95387"/>
            <a:ext cx="4191363" cy="14707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3717032"/>
            <a:ext cx="2636748" cy="7696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720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4340</TotalTime>
  <Words>1069</Words>
  <Application>Microsoft Office PowerPoint</Application>
  <PresentationFormat>화면 슬라이드 쇼(4:3)</PresentationFormat>
  <Paragraphs>196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HY헤드라인M</vt:lpstr>
      <vt:lpstr>맑은 고딕</vt:lpstr>
      <vt:lpstr>휴먼모음T</vt:lpstr>
      <vt:lpstr>휴먼엑스포</vt:lpstr>
      <vt:lpstr>Arial</vt:lpstr>
      <vt:lpstr>Office 테마</vt:lpstr>
      <vt:lpstr>3장. SQL – DML</vt:lpstr>
      <vt:lpstr>  SELECT – 자료 검색</vt:lpstr>
      <vt:lpstr>  SELECT – 자료 검색</vt:lpstr>
      <vt:lpstr>  SELECT – 자료 검색</vt:lpstr>
      <vt:lpstr>  SELECT – 자료 검색</vt:lpstr>
      <vt:lpstr>  SELECT – 자료 검색</vt:lpstr>
      <vt:lpstr>  SELECT – 자료 검색</vt:lpstr>
      <vt:lpstr>  SELECT – 자료 검색</vt:lpstr>
      <vt:lpstr>  SELECT – 자료 검색</vt:lpstr>
      <vt:lpstr>  SELECT – 자료 검색</vt:lpstr>
      <vt:lpstr>  SELECT – 자료 검색</vt:lpstr>
      <vt:lpstr>  SELECT – 자료 검색</vt:lpstr>
      <vt:lpstr>  실습문제</vt:lpstr>
      <vt:lpstr>  조인(JOIN)</vt:lpstr>
      <vt:lpstr>  조인(JOIN)</vt:lpstr>
      <vt:lpstr>  조인(JOIN)</vt:lpstr>
      <vt:lpstr>  조인(JOIN)</vt:lpstr>
      <vt:lpstr>  조인(JOIN)</vt:lpstr>
      <vt:lpstr>  조인(JOIN)</vt:lpstr>
      <vt:lpstr>  조인(JOIN)</vt:lpstr>
      <vt:lpstr>  서브 쿼리</vt:lpstr>
      <vt:lpstr>  서브 쿼리</vt:lpstr>
      <vt:lpstr>  서브 쿼리</vt:lpstr>
      <vt:lpstr>  서브 쿼리</vt:lpstr>
      <vt:lpstr>  서브 쿼리</vt:lpstr>
      <vt:lpstr>  서브 쿼리</vt:lpstr>
      <vt:lpstr>  서브 쿼리</vt:lpstr>
      <vt:lpstr>  뷰(view)</vt:lpstr>
      <vt:lpstr>  뷰(view)</vt:lpstr>
      <vt:lpstr>  뷰(view)</vt:lpstr>
      <vt:lpstr>  뷰(view)</vt:lpstr>
      <vt:lpstr>  집합 연산</vt:lpstr>
      <vt:lpstr>  집합 연산</vt:lpstr>
      <vt:lpstr>  집합 연산</vt:lpstr>
      <vt:lpstr>  집합 연산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508호 강사PC</cp:lastModifiedBy>
  <cp:revision>305</cp:revision>
  <dcterms:created xsi:type="dcterms:W3CDTF">2019-03-04T02:36:55Z</dcterms:created>
  <dcterms:modified xsi:type="dcterms:W3CDTF">2023-04-09T07:37:30Z</dcterms:modified>
</cp:coreProperties>
</file>